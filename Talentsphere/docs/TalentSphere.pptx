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Inter" panose="020B0604020202020204" charset="0"/>
      <p:regular r:id="rId14"/>
    </p:embeddedFont>
    <p:embeddedFont>
      <p:font typeface="Inter Bold" panose="020B0604020202020204" charset="0"/>
      <p:regular r:id="rId15"/>
    </p:embeddedFont>
    <p:embeddedFont>
      <p:font typeface="Petrona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C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20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611585"/>
            <a:ext cx="4722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TalentSphere</a:t>
            </a:r>
            <a:endParaRPr lang="en-US" sz="2900" dirty="0"/>
          </a:p>
        </p:txBody>
      </p:sp>
      <p:sp>
        <p:nvSpPr>
          <p:cNvPr id="4" name="Text 1"/>
          <p:cNvSpPr/>
          <p:nvPr/>
        </p:nvSpPr>
        <p:spPr>
          <a:xfrm>
            <a:off x="496119" y="2133451"/>
            <a:ext cx="4722763" cy="232544"/>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Petrona Bold" pitchFamily="34" charset="0"/>
                <a:ea typeface="Petrona Bold" pitchFamily="34" charset="-122"/>
                <a:cs typeface="Petrona Bold" pitchFamily="34" charset="-120"/>
              </a:rPr>
              <a:t>The Enterprise AI Talent Acquisition Platform</a:t>
            </a:r>
            <a:endParaRPr lang="en-US" sz="1450" dirty="0"/>
          </a:p>
        </p:txBody>
      </p:sp>
      <p:sp>
        <p:nvSpPr>
          <p:cNvPr id="5" name="Text 2"/>
          <p:cNvSpPr/>
          <p:nvPr/>
        </p:nvSpPr>
        <p:spPr>
          <a:xfrm>
            <a:off x="496119" y="2578596"/>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"One Platform. Every Talent Source. AI That Recruits With You."</a:t>
            </a:r>
            <a:endParaRPr lang="en-US" sz="1100" dirty="0"/>
          </a:p>
        </p:txBody>
      </p:sp>
      <p:sp>
        <p:nvSpPr>
          <p:cNvPr id="6" name="Shape 3"/>
          <p:cNvSpPr/>
          <p:nvPr/>
        </p:nvSpPr>
        <p:spPr>
          <a:xfrm>
            <a:off x="496119" y="2964879"/>
            <a:ext cx="4722763" cy="566961"/>
          </a:xfrm>
          <a:prstGeom prst="roundRect">
            <a:avLst>
              <a:gd name="adj" fmla="val 10502"/>
            </a:avLst>
          </a:prstGeom>
          <a:solidFill>
            <a:srgbClr val="CCEEFF"/>
          </a:solidFill>
          <a:ln/>
        </p:spPr>
      </p:sp>
      <p:pic>
        <p:nvPicPr>
          <p:cNvPr id="7" name="Image 1" descr="preencoded.png"/>
          <p:cNvPicPr>
            <a:picLocks noChangeAspect="1"/>
          </p:cNvPicPr>
          <p:nvPr/>
        </p:nvPicPr>
        <p:blipFill>
          <a:blip r:embed="rId4"/>
          <a:stretch>
            <a:fillRect/>
          </a:stretch>
        </p:blipFill>
        <p:spPr>
          <a:xfrm>
            <a:off x="637877" y="3165649"/>
            <a:ext cx="177180" cy="141759"/>
          </a:xfrm>
          <a:prstGeom prst="rect">
            <a:avLst/>
          </a:prstGeom>
        </p:spPr>
      </p:pic>
      <p:sp>
        <p:nvSpPr>
          <p:cNvPr id="8" name="Text 4"/>
          <p:cNvSpPr/>
          <p:nvPr/>
        </p:nvSpPr>
        <p:spPr>
          <a:xfrm>
            <a:off x="956816" y="3142059"/>
            <a:ext cx="4577507" cy="226814"/>
          </a:xfrm>
          <a:prstGeom prst="rect">
            <a:avLst/>
          </a:prstGeom>
          <a:noFill/>
          <a:ln/>
        </p:spPr>
        <p:txBody>
          <a:bodyPr wrap="none" lIns="0" tIns="0" rIns="0" bIns="0" rtlCol="0" anchor="t"/>
          <a:lstStyle/>
          <a:p>
            <a:pPr marL="0" indent="0" algn="l">
              <a:lnSpc>
                <a:spcPct val="133000"/>
              </a:lnSpc>
              <a:buNone/>
            </a:pPr>
            <a:r>
              <a:rPr lang="en-US" sz="1100" dirty="0">
                <a:solidFill>
                  <a:srgbClr val="000000"/>
                </a:solidFill>
                <a:latin typeface="Inter" pitchFamily="34" charset="0"/>
                <a:ea typeface="Inter" pitchFamily="34" charset="-122"/>
                <a:cs typeface="Inter" pitchFamily="34" charset="-120"/>
              </a:rPr>
              <a:t>Enterprise Product Proposal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21853"/>
            <a:ext cx="4722763" cy="785068"/>
          </a:xfrm>
          <a:prstGeom prst="rect">
            <a:avLst/>
          </a:prstGeom>
          <a:noFill/>
          <a:ln/>
        </p:spPr>
        <p:txBody>
          <a:bodyPr wrap="square" lIns="0" tIns="0" rIns="0" bIns="0" rtlCol="0" anchor="t">
            <a:normAutofit/>
          </a:bodyPr>
          <a:lstStyle/>
          <a:p>
            <a:pPr marL="0" indent="0" algn="l">
              <a:lnSpc>
                <a:spcPct val="104000"/>
              </a:lnSpc>
              <a:buNone/>
            </a:pPr>
            <a:r>
              <a:rPr lang="en-US" sz="2450" b="1" dirty="0">
                <a:solidFill>
                  <a:srgbClr val="000000"/>
                </a:solidFill>
                <a:latin typeface="Petrona Bold" pitchFamily="34" charset="0"/>
                <a:ea typeface="Petrona Bold" pitchFamily="34" charset="-122"/>
                <a:cs typeface="Petrona Bold" pitchFamily="34" charset="-120"/>
              </a:rPr>
              <a:t>Recruitment Today is Fragmented</a:t>
            </a:r>
            <a:endParaRPr lang="en-US" sz="2450" dirty="0"/>
          </a:p>
        </p:txBody>
      </p:sp>
      <p:sp>
        <p:nvSpPr>
          <p:cNvPr id="4" name="Text 1"/>
          <p:cNvSpPr/>
          <p:nvPr/>
        </p:nvSpPr>
        <p:spPr>
          <a:xfrm>
            <a:off x="496119" y="1358280"/>
            <a:ext cx="4722763" cy="529084"/>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Organizations rely on many disconnected channels — job boards, multiple ATS, spreadsheets, email, phone and messaging — creating operational drag and visibility gaps.</a:t>
            </a:r>
            <a:endParaRPr lang="en-US" sz="9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000845"/>
            <a:ext cx="2310929" cy="1574453"/>
          </a:xfrm>
          <a:prstGeom prst="rect">
            <a:avLst/>
          </a:prstGeom>
        </p:spPr>
      </p:pic>
      <p:sp>
        <p:nvSpPr>
          <p:cNvPr id="6" name="Text 2"/>
          <p:cNvSpPr/>
          <p:nvPr/>
        </p:nvSpPr>
        <p:spPr>
          <a:xfrm>
            <a:off x="1579811" y="2090514"/>
            <a:ext cx="143470" cy="179412"/>
          </a:xfrm>
          <a:prstGeom prst="rect">
            <a:avLst/>
          </a:prstGeom>
          <a:noFill/>
          <a:ln/>
        </p:spPr>
        <p:txBody>
          <a:bodyPr wrap="none" lIns="0" tIns="0" rIns="0" bIns="0" rtlCol="0" anchor="ctr"/>
          <a:lstStyle/>
          <a:p>
            <a:pPr marL="0" indent="0" algn="ctr">
              <a:lnSpc>
                <a:spcPct val="100000"/>
              </a:lnSpc>
              <a:buNone/>
            </a:pPr>
            <a:r>
              <a:rPr lang="en-US" sz="1100" b="1" dirty="0">
                <a:solidFill>
                  <a:srgbClr val="FFFFFF"/>
                </a:solidFill>
                <a:latin typeface="Petrona Bold" pitchFamily="34" charset="0"/>
                <a:ea typeface="Petrona Bold" pitchFamily="34" charset="-122"/>
                <a:cs typeface="Petrona Bold" pitchFamily="34" charset="-120"/>
              </a:rPr>
              <a:t>1</a:t>
            </a:r>
            <a:endParaRPr lang="en-US" sz="1100" dirty="0"/>
          </a:p>
        </p:txBody>
      </p:sp>
      <p:sp>
        <p:nvSpPr>
          <p:cNvPr id="7" name="Text 3"/>
          <p:cNvSpPr/>
          <p:nvPr/>
        </p:nvSpPr>
        <p:spPr>
          <a:xfrm>
            <a:off x="629989" y="2479253"/>
            <a:ext cx="2043187"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Common Sources</a:t>
            </a:r>
            <a:endParaRPr lang="en-US" sz="1200" dirty="0"/>
          </a:p>
        </p:txBody>
      </p:sp>
      <p:sp>
        <p:nvSpPr>
          <p:cNvPr id="8" name="Text 4"/>
          <p:cNvSpPr/>
          <p:nvPr/>
        </p:nvSpPr>
        <p:spPr>
          <a:xfrm>
            <a:off x="629989" y="2735982"/>
            <a:ext cx="2043187" cy="529084"/>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LinkedIn Recruiter • Naukri • JobDiva • Internal ATS • Email • Excel • Phone • WhatsApp</a:t>
            </a:r>
            <a:endParaRPr lang="en-US" sz="9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7953" y="2000845"/>
            <a:ext cx="2310929" cy="1574453"/>
          </a:xfrm>
          <a:prstGeom prst="rect">
            <a:avLst/>
          </a:prstGeom>
        </p:spPr>
      </p:pic>
      <p:sp>
        <p:nvSpPr>
          <p:cNvPr id="10" name="Text 5"/>
          <p:cNvSpPr/>
          <p:nvPr/>
        </p:nvSpPr>
        <p:spPr>
          <a:xfrm>
            <a:off x="3991645" y="2090514"/>
            <a:ext cx="143470" cy="179412"/>
          </a:xfrm>
          <a:prstGeom prst="rect">
            <a:avLst/>
          </a:prstGeom>
          <a:noFill/>
          <a:ln/>
        </p:spPr>
        <p:txBody>
          <a:bodyPr wrap="none" lIns="0" tIns="0" rIns="0" bIns="0" rtlCol="0" anchor="ctr"/>
          <a:lstStyle/>
          <a:p>
            <a:pPr marL="0" indent="0" algn="ctr">
              <a:lnSpc>
                <a:spcPct val="100000"/>
              </a:lnSpc>
              <a:buNone/>
            </a:pPr>
            <a:r>
              <a:rPr lang="en-US" sz="1100" b="1" dirty="0">
                <a:solidFill>
                  <a:srgbClr val="FFFFFF"/>
                </a:solidFill>
                <a:latin typeface="Petrona Bold" pitchFamily="34" charset="0"/>
                <a:ea typeface="Petrona Bold" pitchFamily="34" charset="-122"/>
                <a:cs typeface="Petrona Bold" pitchFamily="34" charset="-120"/>
              </a:rPr>
              <a:t>2</a:t>
            </a:r>
            <a:endParaRPr lang="en-US" sz="1100" dirty="0"/>
          </a:p>
        </p:txBody>
      </p:sp>
      <p:sp>
        <p:nvSpPr>
          <p:cNvPr id="11" name="Text 6"/>
          <p:cNvSpPr/>
          <p:nvPr/>
        </p:nvSpPr>
        <p:spPr>
          <a:xfrm>
            <a:off x="3041824" y="2479253"/>
            <a:ext cx="2043187"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Operational Challenges</a:t>
            </a:r>
            <a:endParaRPr lang="en-US" sz="1200" dirty="0"/>
          </a:p>
        </p:txBody>
      </p:sp>
      <p:sp>
        <p:nvSpPr>
          <p:cNvPr id="12" name="Text 7"/>
          <p:cNvSpPr/>
          <p:nvPr/>
        </p:nvSpPr>
        <p:spPr>
          <a:xfrm>
            <a:off x="3041824" y="2735982"/>
            <a:ext cx="2043187" cy="705445"/>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Multiple subscriptions, manual sourcing, duplicate records, slow cycles, poor visibility, high cost-per-hire.</a:t>
            </a:r>
            <a:endParaRPr lang="en-US" sz="9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676204"/>
            <a:ext cx="4722763" cy="1045369"/>
          </a:xfrm>
          <a:prstGeom prst="rect">
            <a:avLst/>
          </a:prstGeom>
        </p:spPr>
      </p:pic>
      <p:sp>
        <p:nvSpPr>
          <p:cNvPr id="14" name="Text 8"/>
          <p:cNvSpPr/>
          <p:nvPr/>
        </p:nvSpPr>
        <p:spPr>
          <a:xfrm>
            <a:off x="2785765" y="3765872"/>
            <a:ext cx="143470" cy="179412"/>
          </a:xfrm>
          <a:prstGeom prst="rect">
            <a:avLst/>
          </a:prstGeom>
          <a:noFill/>
          <a:ln/>
        </p:spPr>
        <p:txBody>
          <a:bodyPr wrap="none" lIns="0" tIns="0" rIns="0" bIns="0" rtlCol="0" anchor="ctr"/>
          <a:lstStyle/>
          <a:p>
            <a:pPr marL="0" indent="0" algn="ctr">
              <a:lnSpc>
                <a:spcPct val="100000"/>
              </a:lnSpc>
              <a:buNone/>
            </a:pPr>
            <a:r>
              <a:rPr lang="en-US" sz="1100" b="1" dirty="0">
                <a:solidFill>
                  <a:srgbClr val="FFFFFF"/>
                </a:solidFill>
                <a:latin typeface="Petrona Bold" pitchFamily="34" charset="0"/>
                <a:ea typeface="Petrona Bold" pitchFamily="34" charset="-122"/>
                <a:cs typeface="Petrona Bold" pitchFamily="34" charset="-120"/>
              </a:rPr>
              <a:t>3</a:t>
            </a:r>
            <a:endParaRPr lang="en-US" sz="1100" dirty="0"/>
          </a:p>
        </p:txBody>
      </p:sp>
      <p:sp>
        <p:nvSpPr>
          <p:cNvPr id="15" name="Text 9"/>
          <p:cNvSpPr/>
          <p:nvPr/>
        </p:nvSpPr>
        <p:spPr>
          <a:xfrm>
            <a:off x="629989" y="4154612"/>
            <a:ext cx="4455021"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Key Message</a:t>
            </a:r>
            <a:endParaRPr lang="en-US" sz="1200" dirty="0"/>
          </a:p>
        </p:txBody>
      </p:sp>
      <p:sp>
        <p:nvSpPr>
          <p:cNvPr id="16" name="Text 10"/>
          <p:cNvSpPr/>
          <p:nvPr/>
        </p:nvSpPr>
        <p:spPr>
          <a:xfrm>
            <a:off x="629989" y="4411340"/>
            <a:ext cx="4455021" cy="176361"/>
          </a:xfrm>
          <a:prstGeom prst="rect">
            <a:avLst/>
          </a:prstGeom>
          <a:noFill/>
          <a:ln/>
        </p:spPr>
        <p:txBody>
          <a:bodyPr wrap="none" lIns="0" tIns="0" rIns="0" bIns="0" rtlCol="0" anchor="t"/>
          <a:lstStyle/>
          <a:p>
            <a:pPr marL="0" indent="0" algn="l">
              <a:lnSpc>
                <a:spcPct val="123000"/>
              </a:lnSpc>
              <a:buNone/>
            </a:pPr>
            <a:r>
              <a:rPr lang="en-US" sz="900" b="1" dirty="0">
                <a:solidFill>
                  <a:srgbClr val="272525"/>
                </a:solidFill>
                <a:latin typeface="Inter Bold" pitchFamily="34" charset="0"/>
                <a:ea typeface="Inter Bold" pitchFamily="34" charset="-122"/>
                <a:cs typeface="Inter Bold" pitchFamily="34" charset="-120"/>
              </a:rPr>
              <a:t>Recruiters spend more time managing tools than hiring talent.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515392"/>
            <a:ext cx="8151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Introducing TalentSphere</a:t>
            </a:r>
            <a:endParaRPr lang="en-US" sz="2900" dirty="0"/>
          </a:p>
        </p:txBody>
      </p:sp>
      <p:sp>
        <p:nvSpPr>
          <p:cNvPr id="3" name="Text 1"/>
          <p:cNvSpPr/>
          <p:nvPr/>
        </p:nvSpPr>
        <p:spPr>
          <a:xfrm>
            <a:off x="496119" y="1264072"/>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TalentSphere unifies recruitment into a single intelligent workspace — combining AI discovery, orchestration, and enterprise-grade integrations to replace fragmented workflows.</a:t>
            </a:r>
            <a:endParaRPr lang="en-US" sz="1100" dirty="0"/>
          </a:p>
        </p:txBody>
      </p:sp>
      <p:pic>
        <p:nvPicPr>
          <p:cNvPr id="4" name="Image 0" descr="preencoded.png"/>
          <p:cNvPicPr>
            <a:picLocks noChangeAspect="1"/>
          </p:cNvPicPr>
          <p:nvPr/>
        </p:nvPicPr>
        <p:blipFill>
          <a:blip r:embed="rId3"/>
          <a:stretch>
            <a:fillRect/>
          </a:stretch>
        </p:blipFill>
        <p:spPr>
          <a:xfrm>
            <a:off x="496119" y="1877169"/>
            <a:ext cx="552450" cy="341412"/>
          </a:xfrm>
          <a:prstGeom prst="rect">
            <a:avLst/>
          </a:prstGeom>
        </p:spPr>
      </p:pic>
      <p:sp>
        <p:nvSpPr>
          <p:cNvPr id="5" name="Text 2"/>
          <p:cNvSpPr/>
          <p:nvPr/>
        </p:nvSpPr>
        <p:spPr>
          <a:xfrm>
            <a:off x="1225748" y="1877169"/>
            <a:ext cx="1175370" cy="465088"/>
          </a:xfrm>
          <a:prstGeom prst="rect">
            <a:avLst/>
          </a:prstGeom>
          <a:noFill/>
          <a:ln/>
        </p:spPr>
        <p:txBody>
          <a:bodyPr wrap="square" lIns="0" tIns="0" rIns="0" bIns="0" rtlCol="0" anchor="t">
            <a:normAutofit/>
          </a:bodyPr>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AI Candidate Discovery</a:t>
            </a:r>
            <a:endParaRPr lang="en-US" sz="1450" dirty="0"/>
          </a:p>
        </p:txBody>
      </p:sp>
      <p:sp>
        <p:nvSpPr>
          <p:cNvPr id="6" name="Text 3"/>
          <p:cNvSpPr/>
          <p:nvPr/>
        </p:nvSpPr>
        <p:spPr>
          <a:xfrm>
            <a:off x="1225748" y="2427312"/>
            <a:ext cx="1175370" cy="1814513"/>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Find the best-fit talent across internal and external sources using semantic search and contextual ranking.</a:t>
            </a:r>
            <a:endParaRPr lang="en-US" sz="1100" dirty="0"/>
          </a:p>
        </p:txBody>
      </p:sp>
      <p:pic>
        <p:nvPicPr>
          <p:cNvPr id="7" name="Image 1" descr="preencoded.png"/>
          <p:cNvPicPr>
            <a:picLocks noChangeAspect="1"/>
          </p:cNvPicPr>
          <p:nvPr/>
        </p:nvPicPr>
        <p:blipFill>
          <a:blip r:embed="rId4"/>
          <a:stretch>
            <a:fillRect/>
          </a:stretch>
        </p:blipFill>
        <p:spPr>
          <a:xfrm>
            <a:off x="2578298" y="1877169"/>
            <a:ext cx="552450" cy="341412"/>
          </a:xfrm>
          <a:prstGeom prst="rect">
            <a:avLst/>
          </a:prstGeom>
        </p:spPr>
      </p:pic>
      <p:sp>
        <p:nvSpPr>
          <p:cNvPr id="8" name="Text 4"/>
          <p:cNvSpPr/>
          <p:nvPr/>
        </p:nvSpPr>
        <p:spPr>
          <a:xfrm>
            <a:off x="3307928" y="1877169"/>
            <a:ext cx="1175445" cy="465088"/>
          </a:xfrm>
          <a:prstGeom prst="rect">
            <a:avLst/>
          </a:prstGeom>
          <a:noFill/>
          <a:ln/>
        </p:spPr>
        <p:txBody>
          <a:bodyPr wrap="square" lIns="0" tIns="0" rIns="0" bIns="0" rtlCol="0" anchor="t">
            <a:normAutofit/>
          </a:bodyPr>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Resume Intelligence</a:t>
            </a:r>
            <a:endParaRPr lang="en-US" sz="1450" dirty="0"/>
          </a:p>
        </p:txBody>
      </p:sp>
      <p:sp>
        <p:nvSpPr>
          <p:cNvPr id="9" name="Text 5"/>
          <p:cNvSpPr/>
          <p:nvPr/>
        </p:nvSpPr>
        <p:spPr>
          <a:xfrm>
            <a:off x="3307928" y="2427312"/>
            <a:ext cx="1175445"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Automated extraction, normalization, and skills mapping to reduce manual parsing.</a:t>
            </a:r>
            <a:endParaRPr lang="en-US" sz="1100" dirty="0"/>
          </a:p>
        </p:txBody>
      </p:sp>
      <p:pic>
        <p:nvPicPr>
          <p:cNvPr id="10" name="Image 2" descr="preencoded.png"/>
          <p:cNvPicPr>
            <a:picLocks noChangeAspect="1"/>
          </p:cNvPicPr>
          <p:nvPr/>
        </p:nvPicPr>
        <p:blipFill>
          <a:blip r:embed="rId5"/>
          <a:stretch>
            <a:fillRect/>
          </a:stretch>
        </p:blipFill>
        <p:spPr>
          <a:xfrm>
            <a:off x="4660553" y="1877169"/>
            <a:ext cx="552450" cy="341412"/>
          </a:xfrm>
          <a:prstGeom prst="rect">
            <a:avLst/>
          </a:prstGeom>
        </p:spPr>
      </p:pic>
      <p:sp>
        <p:nvSpPr>
          <p:cNvPr id="11" name="Text 6"/>
          <p:cNvSpPr/>
          <p:nvPr/>
        </p:nvSpPr>
        <p:spPr>
          <a:xfrm>
            <a:off x="5390183" y="1877169"/>
            <a:ext cx="1175445" cy="465088"/>
          </a:xfrm>
          <a:prstGeom prst="rect">
            <a:avLst/>
          </a:prstGeom>
          <a:noFill/>
          <a:ln/>
        </p:spPr>
        <p:txBody>
          <a:bodyPr wrap="square" lIns="0" tIns="0" rIns="0" bIns="0" rtlCol="0" anchor="t">
            <a:normAutofit/>
          </a:bodyPr>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AI Voice Screening</a:t>
            </a:r>
            <a:endParaRPr lang="en-US" sz="1450" dirty="0"/>
          </a:p>
        </p:txBody>
      </p:sp>
      <p:sp>
        <p:nvSpPr>
          <p:cNvPr id="12" name="Text 7"/>
          <p:cNvSpPr/>
          <p:nvPr/>
        </p:nvSpPr>
        <p:spPr>
          <a:xfrm>
            <a:off x="5390183" y="2427312"/>
            <a:ext cx="1175445"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Asynchronous voice assessments with structured scoring to accelerate shortlisting.</a:t>
            </a:r>
            <a:endParaRPr lang="en-US" sz="1100" dirty="0"/>
          </a:p>
        </p:txBody>
      </p:sp>
      <p:pic>
        <p:nvPicPr>
          <p:cNvPr id="13" name="Image 3" descr="preencoded.png"/>
          <p:cNvPicPr>
            <a:picLocks noChangeAspect="1"/>
          </p:cNvPicPr>
          <p:nvPr/>
        </p:nvPicPr>
        <p:blipFill>
          <a:blip r:embed="rId6"/>
          <a:stretch>
            <a:fillRect/>
          </a:stretch>
        </p:blipFill>
        <p:spPr>
          <a:xfrm>
            <a:off x="6742807" y="1877169"/>
            <a:ext cx="552450" cy="341412"/>
          </a:xfrm>
          <a:prstGeom prst="rect">
            <a:avLst/>
          </a:prstGeom>
        </p:spPr>
      </p:pic>
      <p:sp>
        <p:nvSpPr>
          <p:cNvPr id="14" name="Text 8"/>
          <p:cNvSpPr/>
          <p:nvPr/>
        </p:nvSpPr>
        <p:spPr>
          <a:xfrm>
            <a:off x="7472437" y="1877169"/>
            <a:ext cx="1175445" cy="465088"/>
          </a:xfrm>
          <a:prstGeom prst="rect">
            <a:avLst/>
          </a:prstGeom>
          <a:noFill/>
          <a:ln/>
        </p:spPr>
        <p:txBody>
          <a:bodyPr wrap="square" lIns="0" tIns="0" rIns="0" bIns="0" rtlCol="0" anchor="t">
            <a:normAutofit/>
          </a:bodyPr>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Workflow Automation</a:t>
            </a:r>
            <a:endParaRPr lang="en-US" sz="1450" dirty="0"/>
          </a:p>
        </p:txBody>
      </p:sp>
      <p:sp>
        <p:nvSpPr>
          <p:cNvPr id="15" name="Text 9"/>
          <p:cNvSpPr/>
          <p:nvPr/>
        </p:nvSpPr>
        <p:spPr>
          <a:xfrm>
            <a:off x="7472437" y="2427312"/>
            <a:ext cx="1175445"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Orchestrate screening, interview scheduling, and HRMS handoffs with minimal manual steps.</a:t>
            </a:r>
            <a:endParaRPr lang="en-US" sz="1100" dirty="0"/>
          </a:p>
        </p:txBody>
      </p:sp>
      <p:sp>
        <p:nvSpPr>
          <p:cNvPr id="16" name="Text 10"/>
          <p:cNvSpPr/>
          <p:nvPr/>
        </p:nvSpPr>
        <p:spPr>
          <a:xfrm>
            <a:off x="496119" y="4401294"/>
            <a:ext cx="8608963" cy="226814"/>
          </a:xfrm>
          <a:prstGeom prst="rect">
            <a:avLst/>
          </a:prstGeom>
          <a:noFill/>
          <a:ln/>
        </p:spPr>
        <p:txBody>
          <a:bodyPr wrap="none" lIns="0" tIns="0" rIns="0" bIns="0" rtlCol="0" anchor="t"/>
          <a:lstStyle/>
          <a:p>
            <a:pPr marL="0" indent="0" algn="l">
              <a:lnSpc>
                <a:spcPct val="133000"/>
              </a:lnSpc>
              <a:buNone/>
            </a:pPr>
            <a:r>
              <a:rPr lang="en-US" sz="1100" b="1" dirty="0">
                <a:solidFill>
                  <a:srgbClr val="272525"/>
                </a:solidFill>
                <a:latin typeface="Inter Bold" pitchFamily="34" charset="0"/>
                <a:ea typeface="Inter Bold" pitchFamily="34" charset="-122"/>
                <a:cs typeface="Inter Bold" pitchFamily="34" charset="-120"/>
              </a:rPr>
              <a:t>One platform replacing fragmented recruitment workflows.</a:t>
            </a:r>
            <a:endParaRPr lang="en-US" sz="1100" dirty="0"/>
          </a:p>
        </p:txBody>
      </p:sp>
      <p:sp>
        <p:nvSpPr>
          <p:cNvPr id="17" name="Rectangle 16">
            <a:extLst>
              <a:ext uri="{FF2B5EF4-FFF2-40B4-BE49-F238E27FC236}">
                <a16:creationId xmlns:a16="http://schemas.microsoft.com/office/drawing/2014/main" id="{68447D34-3F7E-955A-F7E0-AE033EB4778B}"/>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91418"/>
            <a:ext cx="8151763" cy="436066"/>
          </a:xfrm>
          <a:prstGeom prst="rect">
            <a:avLst/>
          </a:prstGeom>
          <a:noFill/>
          <a:ln/>
        </p:spPr>
        <p:txBody>
          <a:bodyPr wrap="none" lIns="0" tIns="0" rIns="0" bIns="0" rtlCol="0" anchor="t"/>
          <a:lstStyle/>
          <a:p>
            <a:pPr marL="0" indent="0" algn="l">
              <a:lnSpc>
                <a:spcPct val="104000"/>
              </a:lnSpc>
              <a:buNone/>
            </a:pPr>
            <a:r>
              <a:rPr lang="en-US" sz="2700" b="1" dirty="0">
                <a:solidFill>
                  <a:srgbClr val="000000"/>
                </a:solidFill>
                <a:latin typeface="Petrona Bold" pitchFamily="34" charset="0"/>
                <a:ea typeface="Petrona Bold" pitchFamily="34" charset="-122"/>
                <a:cs typeface="Petrona Bold" pitchFamily="34" charset="-120"/>
              </a:rPr>
              <a:t>Unified Recruitment Ecosystem</a:t>
            </a:r>
            <a:endParaRPr lang="en-US" sz="2700" dirty="0"/>
          </a:p>
        </p:txBody>
      </p:sp>
      <p:sp>
        <p:nvSpPr>
          <p:cNvPr id="3" name="Text 1"/>
          <p:cNvSpPr/>
          <p:nvPr/>
        </p:nvSpPr>
        <p:spPr>
          <a:xfrm>
            <a:off x="496119" y="1076623"/>
            <a:ext cx="8608963"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Complete hiring lifecycle under a single login and dashboard — from job creation to HRMS handoff and executive analytics.</a:t>
            </a:r>
            <a:endParaRPr lang="en-US" sz="1000" dirty="0"/>
          </a:p>
        </p:txBody>
      </p:sp>
      <p:sp>
        <p:nvSpPr>
          <p:cNvPr id="4" name="Shape 2"/>
          <p:cNvSpPr/>
          <p:nvPr/>
        </p:nvSpPr>
        <p:spPr>
          <a:xfrm>
            <a:off x="496119" y="1422722"/>
            <a:ext cx="2634183" cy="980033"/>
          </a:xfrm>
          <a:prstGeom prst="roundRect">
            <a:avLst>
              <a:gd name="adj" fmla="val 5696"/>
            </a:avLst>
          </a:prstGeom>
          <a:solidFill>
            <a:srgbClr val="CCEEFF"/>
          </a:solidFill>
          <a:ln w="4763">
            <a:solidFill>
              <a:srgbClr val="B2D4E5"/>
            </a:solidFill>
            <a:prstDash val="solid"/>
          </a:ln>
        </p:spPr>
      </p:sp>
      <p:sp>
        <p:nvSpPr>
          <p:cNvPr id="5" name="Text 3"/>
          <p:cNvSpPr/>
          <p:nvPr/>
        </p:nvSpPr>
        <p:spPr>
          <a:xfrm>
            <a:off x="633785" y="1560388"/>
            <a:ext cx="2358851"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Hiring Management</a:t>
            </a:r>
            <a:endParaRPr lang="en-US" sz="1350" dirty="0"/>
          </a:p>
        </p:txBody>
      </p:sp>
      <p:sp>
        <p:nvSpPr>
          <p:cNvPr id="6" name="Text 4"/>
          <p:cNvSpPr/>
          <p:nvPr/>
        </p:nvSpPr>
        <p:spPr>
          <a:xfrm>
            <a:off x="633785" y="1853133"/>
            <a:ext cx="2358851"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Job orchestration, approvals, and role templates.</a:t>
            </a:r>
            <a:endParaRPr lang="en-US" sz="1000" dirty="0"/>
          </a:p>
        </p:txBody>
      </p:sp>
      <p:sp>
        <p:nvSpPr>
          <p:cNvPr id="7" name="Shape 5"/>
          <p:cNvSpPr/>
          <p:nvPr/>
        </p:nvSpPr>
        <p:spPr>
          <a:xfrm>
            <a:off x="3254871" y="1422722"/>
            <a:ext cx="2634183" cy="980033"/>
          </a:xfrm>
          <a:prstGeom prst="roundRect">
            <a:avLst>
              <a:gd name="adj" fmla="val 5696"/>
            </a:avLst>
          </a:prstGeom>
          <a:solidFill>
            <a:srgbClr val="CCEEFF"/>
          </a:solidFill>
          <a:ln w="4763">
            <a:solidFill>
              <a:srgbClr val="B2D4E5"/>
            </a:solidFill>
            <a:prstDash val="solid"/>
          </a:ln>
        </p:spPr>
      </p:sp>
      <p:sp>
        <p:nvSpPr>
          <p:cNvPr id="8" name="Text 6"/>
          <p:cNvSpPr/>
          <p:nvPr/>
        </p:nvSpPr>
        <p:spPr>
          <a:xfrm>
            <a:off x="3392537" y="1560388"/>
            <a:ext cx="2358851"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Job Intelligence</a:t>
            </a:r>
            <a:endParaRPr lang="en-US" sz="1350" dirty="0"/>
          </a:p>
        </p:txBody>
      </p:sp>
      <p:sp>
        <p:nvSpPr>
          <p:cNvPr id="9" name="Text 7"/>
          <p:cNvSpPr/>
          <p:nvPr/>
        </p:nvSpPr>
        <p:spPr>
          <a:xfrm>
            <a:off x="3392537" y="1853133"/>
            <a:ext cx="2358851"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Smart JD generation and skill modeling.</a:t>
            </a:r>
            <a:endParaRPr lang="en-US" sz="1000" dirty="0"/>
          </a:p>
        </p:txBody>
      </p:sp>
      <p:sp>
        <p:nvSpPr>
          <p:cNvPr id="10" name="Shape 8"/>
          <p:cNvSpPr/>
          <p:nvPr/>
        </p:nvSpPr>
        <p:spPr>
          <a:xfrm>
            <a:off x="6013624" y="1422722"/>
            <a:ext cx="2634183" cy="980033"/>
          </a:xfrm>
          <a:prstGeom prst="roundRect">
            <a:avLst>
              <a:gd name="adj" fmla="val 5696"/>
            </a:avLst>
          </a:prstGeom>
          <a:solidFill>
            <a:srgbClr val="CCEEFF"/>
          </a:solidFill>
          <a:ln w="4763">
            <a:solidFill>
              <a:srgbClr val="B2D4E5"/>
            </a:solidFill>
            <a:prstDash val="solid"/>
          </a:ln>
        </p:spPr>
      </p:sp>
      <p:sp>
        <p:nvSpPr>
          <p:cNvPr id="11" name="Text 9"/>
          <p:cNvSpPr/>
          <p:nvPr/>
        </p:nvSpPr>
        <p:spPr>
          <a:xfrm>
            <a:off x="6151290" y="1560388"/>
            <a:ext cx="2358851"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Talent Intelligence</a:t>
            </a:r>
            <a:endParaRPr lang="en-US" sz="1350" dirty="0"/>
          </a:p>
        </p:txBody>
      </p:sp>
      <p:sp>
        <p:nvSpPr>
          <p:cNvPr id="12" name="Text 10"/>
          <p:cNvSpPr/>
          <p:nvPr/>
        </p:nvSpPr>
        <p:spPr>
          <a:xfrm>
            <a:off x="6151290" y="1853133"/>
            <a:ext cx="2358851"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Cross-source candidate graph and semantic search.</a:t>
            </a:r>
            <a:endParaRPr lang="en-US" sz="1000" dirty="0"/>
          </a:p>
        </p:txBody>
      </p:sp>
      <p:sp>
        <p:nvSpPr>
          <p:cNvPr id="13" name="Shape 11"/>
          <p:cNvSpPr/>
          <p:nvPr/>
        </p:nvSpPr>
        <p:spPr>
          <a:xfrm>
            <a:off x="496119" y="2527325"/>
            <a:ext cx="2634183" cy="980033"/>
          </a:xfrm>
          <a:prstGeom prst="roundRect">
            <a:avLst>
              <a:gd name="adj" fmla="val 5696"/>
            </a:avLst>
          </a:prstGeom>
          <a:solidFill>
            <a:srgbClr val="CCEEFF"/>
          </a:solidFill>
          <a:ln w="4763">
            <a:solidFill>
              <a:srgbClr val="B2D4E5"/>
            </a:solidFill>
            <a:prstDash val="solid"/>
          </a:ln>
        </p:spPr>
      </p:sp>
      <p:sp>
        <p:nvSpPr>
          <p:cNvPr id="14" name="Text 12"/>
          <p:cNvSpPr/>
          <p:nvPr/>
        </p:nvSpPr>
        <p:spPr>
          <a:xfrm>
            <a:off x="633785" y="2664991"/>
            <a:ext cx="2358851"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Candidate Engagement</a:t>
            </a:r>
            <a:endParaRPr lang="en-US" sz="1350" dirty="0"/>
          </a:p>
        </p:txBody>
      </p:sp>
      <p:sp>
        <p:nvSpPr>
          <p:cNvPr id="15" name="Text 13"/>
          <p:cNvSpPr/>
          <p:nvPr/>
        </p:nvSpPr>
        <p:spPr>
          <a:xfrm>
            <a:off x="633785" y="2957736"/>
            <a:ext cx="2358851"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Multi-channel outreach, voice screening, and scheduling.</a:t>
            </a:r>
            <a:endParaRPr lang="en-US" sz="1000" dirty="0"/>
          </a:p>
        </p:txBody>
      </p:sp>
      <p:sp>
        <p:nvSpPr>
          <p:cNvPr id="16" name="Shape 14"/>
          <p:cNvSpPr/>
          <p:nvPr/>
        </p:nvSpPr>
        <p:spPr>
          <a:xfrm>
            <a:off x="3254871" y="2527325"/>
            <a:ext cx="2634183" cy="980033"/>
          </a:xfrm>
          <a:prstGeom prst="roundRect">
            <a:avLst>
              <a:gd name="adj" fmla="val 5696"/>
            </a:avLst>
          </a:prstGeom>
          <a:solidFill>
            <a:srgbClr val="CCEEFF"/>
          </a:solidFill>
          <a:ln w="4763">
            <a:solidFill>
              <a:srgbClr val="B2D4E5"/>
            </a:solidFill>
            <a:prstDash val="solid"/>
          </a:ln>
        </p:spPr>
      </p:sp>
      <p:sp>
        <p:nvSpPr>
          <p:cNvPr id="17" name="Text 15"/>
          <p:cNvSpPr/>
          <p:nvPr/>
        </p:nvSpPr>
        <p:spPr>
          <a:xfrm>
            <a:off x="3392537" y="2664991"/>
            <a:ext cx="2358851"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Hiring Operations</a:t>
            </a:r>
            <a:endParaRPr lang="en-US" sz="1350" dirty="0"/>
          </a:p>
        </p:txBody>
      </p:sp>
      <p:sp>
        <p:nvSpPr>
          <p:cNvPr id="18" name="Text 16"/>
          <p:cNvSpPr/>
          <p:nvPr/>
        </p:nvSpPr>
        <p:spPr>
          <a:xfrm>
            <a:off x="3392537" y="2957736"/>
            <a:ext cx="2358851"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Workflows, SLAs, and process automation.</a:t>
            </a:r>
            <a:endParaRPr lang="en-US" sz="1000" dirty="0"/>
          </a:p>
        </p:txBody>
      </p:sp>
      <p:sp>
        <p:nvSpPr>
          <p:cNvPr id="19" name="Shape 17"/>
          <p:cNvSpPr/>
          <p:nvPr/>
        </p:nvSpPr>
        <p:spPr>
          <a:xfrm>
            <a:off x="6013624" y="2527325"/>
            <a:ext cx="2634183" cy="980033"/>
          </a:xfrm>
          <a:prstGeom prst="roundRect">
            <a:avLst>
              <a:gd name="adj" fmla="val 5696"/>
            </a:avLst>
          </a:prstGeom>
          <a:solidFill>
            <a:srgbClr val="CCEEFF"/>
          </a:solidFill>
          <a:ln w="4763">
            <a:solidFill>
              <a:srgbClr val="B2D4E5"/>
            </a:solidFill>
            <a:prstDash val="solid"/>
          </a:ln>
        </p:spPr>
      </p:sp>
      <p:sp>
        <p:nvSpPr>
          <p:cNvPr id="20" name="Text 18"/>
          <p:cNvSpPr/>
          <p:nvPr/>
        </p:nvSpPr>
        <p:spPr>
          <a:xfrm>
            <a:off x="6151290" y="2664991"/>
            <a:ext cx="2358851"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Executive Intelligence</a:t>
            </a:r>
            <a:endParaRPr lang="en-US" sz="1350" dirty="0"/>
          </a:p>
        </p:txBody>
      </p:sp>
      <p:sp>
        <p:nvSpPr>
          <p:cNvPr id="21" name="Text 19"/>
          <p:cNvSpPr/>
          <p:nvPr/>
        </p:nvSpPr>
        <p:spPr>
          <a:xfrm>
            <a:off x="6151290" y="2957736"/>
            <a:ext cx="2358851"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Dashboards for pipeline, cost, and time-to-hire.</a:t>
            </a:r>
            <a:endParaRPr lang="en-US" sz="1000" dirty="0"/>
          </a:p>
        </p:txBody>
      </p:sp>
      <p:sp>
        <p:nvSpPr>
          <p:cNvPr id="22" name="Shape 20"/>
          <p:cNvSpPr/>
          <p:nvPr/>
        </p:nvSpPr>
        <p:spPr>
          <a:xfrm>
            <a:off x="496119" y="3631927"/>
            <a:ext cx="4013522" cy="774055"/>
          </a:xfrm>
          <a:prstGeom prst="roundRect">
            <a:avLst>
              <a:gd name="adj" fmla="val 7211"/>
            </a:avLst>
          </a:prstGeom>
          <a:solidFill>
            <a:srgbClr val="CCEEFF"/>
          </a:solidFill>
          <a:ln w="4763">
            <a:solidFill>
              <a:srgbClr val="B2D4E5"/>
            </a:solidFill>
            <a:prstDash val="solid"/>
          </a:ln>
        </p:spPr>
      </p:sp>
      <p:sp>
        <p:nvSpPr>
          <p:cNvPr id="23" name="Text 21"/>
          <p:cNvSpPr/>
          <p:nvPr/>
        </p:nvSpPr>
        <p:spPr>
          <a:xfrm>
            <a:off x="633785" y="3769593"/>
            <a:ext cx="3738190"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Integrations</a:t>
            </a:r>
            <a:endParaRPr lang="en-US" sz="1350" dirty="0"/>
          </a:p>
        </p:txBody>
      </p:sp>
      <p:sp>
        <p:nvSpPr>
          <p:cNvPr id="24" name="Text 22"/>
          <p:cNvSpPr/>
          <p:nvPr/>
        </p:nvSpPr>
        <p:spPr>
          <a:xfrm>
            <a:off x="633785" y="4062338"/>
            <a:ext cx="3738190"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ATS, job boards, HRMS, SSO, and security connectors.</a:t>
            </a:r>
            <a:endParaRPr lang="en-US" sz="1000" dirty="0"/>
          </a:p>
        </p:txBody>
      </p:sp>
      <p:sp>
        <p:nvSpPr>
          <p:cNvPr id="25" name="Shape 23"/>
          <p:cNvSpPr/>
          <p:nvPr/>
        </p:nvSpPr>
        <p:spPr>
          <a:xfrm>
            <a:off x="4634210" y="3631927"/>
            <a:ext cx="4013597" cy="774055"/>
          </a:xfrm>
          <a:prstGeom prst="roundRect">
            <a:avLst>
              <a:gd name="adj" fmla="val 7211"/>
            </a:avLst>
          </a:prstGeom>
          <a:solidFill>
            <a:srgbClr val="CCEEFF"/>
          </a:solidFill>
          <a:ln w="4763">
            <a:solidFill>
              <a:srgbClr val="B2D4E5"/>
            </a:solidFill>
            <a:prstDash val="solid"/>
          </a:ln>
        </p:spPr>
      </p:sp>
      <p:sp>
        <p:nvSpPr>
          <p:cNvPr id="26" name="Text 24"/>
          <p:cNvSpPr/>
          <p:nvPr/>
        </p:nvSpPr>
        <p:spPr>
          <a:xfrm>
            <a:off x="4771876" y="3769593"/>
            <a:ext cx="3738265"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Petrona Bold" pitchFamily="34" charset="0"/>
                <a:ea typeface="Petrona Bold" pitchFamily="34" charset="-122"/>
                <a:cs typeface="Petrona Bold" pitchFamily="34" charset="-120"/>
              </a:rPr>
              <a:t>Security &amp; Governance</a:t>
            </a:r>
            <a:endParaRPr lang="en-US" sz="1350" dirty="0"/>
          </a:p>
        </p:txBody>
      </p:sp>
      <p:sp>
        <p:nvSpPr>
          <p:cNvPr id="27" name="Text 25"/>
          <p:cNvSpPr/>
          <p:nvPr/>
        </p:nvSpPr>
        <p:spPr>
          <a:xfrm>
            <a:off x="4771876" y="4062338"/>
            <a:ext cx="3738265"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Enterprise IAM, audit logs, and compliance controls.</a:t>
            </a:r>
            <a:endParaRPr lang="en-US" sz="1000" dirty="0"/>
          </a:p>
        </p:txBody>
      </p:sp>
      <p:sp>
        <p:nvSpPr>
          <p:cNvPr id="28" name="Text 26"/>
          <p:cNvSpPr/>
          <p:nvPr/>
        </p:nvSpPr>
        <p:spPr>
          <a:xfrm>
            <a:off x="496119" y="4546104"/>
            <a:ext cx="8608963" cy="205978"/>
          </a:xfrm>
          <a:prstGeom prst="rect">
            <a:avLst/>
          </a:prstGeom>
          <a:noFill/>
          <a:ln/>
        </p:spPr>
        <p:txBody>
          <a:bodyPr wrap="none" lIns="0" tIns="0" rIns="0" bIns="0" rtlCol="0" anchor="t"/>
          <a:lstStyle/>
          <a:p>
            <a:pPr marL="0" indent="0" algn="l">
              <a:lnSpc>
                <a:spcPct val="129000"/>
              </a:lnSpc>
              <a:buNone/>
            </a:pPr>
            <a:r>
              <a:rPr lang="en-US" sz="1000" b="1" dirty="0">
                <a:solidFill>
                  <a:srgbClr val="272525"/>
                </a:solidFill>
                <a:latin typeface="Inter Bold" pitchFamily="34" charset="0"/>
                <a:ea typeface="Inter Bold" pitchFamily="34" charset="-122"/>
                <a:cs typeface="Inter Bold" pitchFamily="34" charset="-120"/>
              </a:rPr>
              <a:t>Single Login. Single Dashboard. Complete Hiring Lifecycle.</a:t>
            </a:r>
            <a:endParaRPr lang="en-US" sz="1000" dirty="0"/>
          </a:p>
        </p:txBody>
      </p:sp>
      <p:sp>
        <p:nvSpPr>
          <p:cNvPr id="30" name="Rectangle 29">
            <a:extLst>
              <a:ext uri="{FF2B5EF4-FFF2-40B4-BE49-F238E27FC236}">
                <a16:creationId xmlns:a16="http://schemas.microsoft.com/office/drawing/2014/main" id="{270B73F5-1B88-F2F5-9165-5AD37DE349FD}"/>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7417"/>
            <a:ext cx="8151763" cy="392534"/>
          </a:xfrm>
          <a:prstGeom prst="rect">
            <a:avLst/>
          </a:prstGeom>
          <a:noFill/>
          <a:ln/>
        </p:spPr>
        <p:txBody>
          <a:bodyPr wrap="none" lIns="0" tIns="0" rIns="0" bIns="0" rtlCol="0" anchor="t"/>
          <a:lstStyle/>
          <a:p>
            <a:pPr marL="0" indent="0" algn="l">
              <a:lnSpc>
                <a:spcPct val="104000"/>
              </a:lnSpc>
              <a:buNone/>
            </a:pPr>
            <a:r>
              <a:rPr lang="en-US" sz="2450" b="1" dirty="0">
                <a:solidFill>
                  <a:srgbClr val="000000"/>
                </a:solidFill>
                <a:latin typeface="Petrona Bold" pitchFamily="34" charset="0"/>
                <a:ea typeface="Petrona Bold" pitchFamily="34" charset="-122"/>
                <a:cs typeface="Petrona Bold" pitchFamily="34" charset="-120"/>
              </a:rPr>
              <a:t>60 Specialized AI Agents Working Together</a:t>
            </a:r>
            <a:endParaRPr lang="en-US" sz="2450" dirty="0"/>
          </a:p>
        </p:txBody>
      </p:sp>
      <p:sp>
        <p:nvSpPr>
          <p:cNvPr id="3" name="Text 1"/>
          <p:cNvSpPr/>
          <p:nvPr/>
        </p:nvSpPr>
        <p:spPr>
          <a:xfrm>
            <a:off x="496119" y="1001762"/>
            <a:ext cx="8608963" cy="176361"/>
          </a:xfrm>
          <a:prstGeom prst="rect">
            <a:avLst/>
          </a:prstGeom>
          <a:noFill/>
          <a:ln/>
        </p:spPr>
        <p:txBody>
          <a:bodyPr wrap="none" lIns="0" tIns="0" rIns="0" bIns="0" rtlCol="0" anchor="t"/>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Domain-specific agents collaborate under a central Orchestrator to automate tasks while preserving human control.</a:t>
            </a:r>
            <a:endParaRPr lang="en-US" sz="9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291605"/>
            <a:ext cx="298996" cy="298996"/>
          </a:xfrm>
          <a:prstGeom prst="rect">
            <a:avLst/>
          </a:prstGeom>
        </p:spPr>
      </p:pic>
      <p:sp>
        <p:nvSpPr>
          <p:cNvPr id="5" name="Text 2"/>
          <p:cNvSpPr/>
          <p:nvPr/>
        </p:nvSpPr>
        <p:spPr>
          <a:xfrm>
            <a:off x="496119" y="1716732"/>
            <a:ext cx="4012778"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Talent Discovery Agent</a:t>
            </a:r>
            <a:endParaRPr lang="en-US" sz="1200" dirty="0"/>
          </a:p>
        </p:txBody>
      </p:sp>
      <p:sp>
        <p:nvSpPr>
          <p:cNvPr id="6" name="Text 3"/>
          <p:cNvSpPr/>
          <p:nvPr/>
        </p:nvSpPr>
        <p:spPr>
          <a:xfrm>
            <a:off x="496119" y="1973461"/>
            <a:ext cx="4012778" cy="176361"/>
          </a:xfrm>
          <a:prstGeom prst="rect">
            <a:avLst/>
          </a:prstGeom>
          <a:noFill/>
          <a:ln/>
        </p:spPr>
        <p:txBody>
          <a:bodyPr wrap="none" lIns="0" tIns="0" rIns="0" bIns="0" rtlCol="0" anchor="t"/>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Semantic sourcing across external and internal pools.</a:t>
            </a:r>
            <a:endParaRPr lang="en-US" sz="9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5029" y="1291605"/>
            <a:ext cx="298996" cy="298996"/>
          </a:xfrm>
          <a:prstGeom prst="rect">
            <a:avLst/>
          </a:prstGeom>
        </p:spPr>
      </p:pic>
      <p:sp>
        <p:nvSpPr>
          <p:cNvPr id="8" name="Text 4"/>
          <p:cNvSpPr/>
          <p:nvPr/>
        </p:nvSpPr>
        <p:spPr>
          <a:xfrm>
            <a:off x="4635029" y="1716732"/>
            <a:ext cx="4012853"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Resume Intelligence Agent</a:t>
            </a:r>
            <a:endParaRPr lang="en-US" sz="1200" dirty="0"/>
          </a:p>
        </p:txBody>
      </p:sp>
      <p:sp>
        <p:nvSpPr>
          <p:cNvPr id="9" name="Text 5"/>
          <p:cNvSpPr/>
          <p:nvPr/>
        </p:nvSpPr>
        <p:spPr>
          <a:xfrm>
            <a:off x="4635029" y="1973461"/>
            <a:ext cx="4012853" cy="176361"/>
          </a:xfrm>
          <a:prstGeom prst="rect">
            <a:avLst/>
          </a:prstGeom>
          <a:noFill/>
          <a:ln/>
        </p:spPr>
        <p:txBody>
          <a:bodyPr wrap="none" lIns="0" tIns="0" rIns="0" bIns="0" rtlCol="0" anchor="t"/>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Extracts, normalizes, and enriches candidate profiles.</a:t>
            </a:r>
            <a:endParaRPr lang="en-US" sz="9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351633"/>
            <a:ext cx="298996" cy="298996"/>
          </a:xfrm>
          <a:prstGeom prst="rect">
            <a:avLst/>
          </a:prstGeom>
        </p:spPr>
      </p:pic>
      <p:sp>
        <p:nvSpPr>
          <p:cNvPr id="11" name="Text 6"/>
          <p:cNvSpPr/>
          <p:nvPr/>
        </p:nvSpPr>
        <p:spPr>
          <a:xfrm>
            <a:off x="496119" y="2776761"/>
            <a:ext cx="4012778"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Voice Screening Agent</a:t>
            </a:r>
            <a:endParaRPr lang="en-US" sz="1200" dirty="0"/>
          </a:p>
        </p:txBody>
      </p:sp>
      <p:sp>
        <p:nvSpPr>
          <p:cNvPr id="12" name="Text 7"/>
          <p:cNvSpPr/>
          <p:nvPr/>
        </p:nvSpPr>
        <p:spPr>
          <a:xfrm>
            <a:off x="496119" y="3033489"/>
            <a:ext cx="4012778" cy="176361"/>
          </a:xfrm>
          <a:prstGeom prst="rect">
            <a:avLst/>
          </a:prstGeom>
          <a:noFill/>
          <a:ln/>
        </p:spPr>
        <p:txBody>
          <a:bodyPr wrap="none" lIns="0" tIns="0" rIns="0" bIns="0" rtlCol="0" anchor="t"/>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Structured voice assessments with scoring and transcripts.</a:t>
            </a:r>
            <a:endParaRPr lang="en-US" sz="9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35029" y="2351633"/>
            <a:ext cx="298996" cy="298996"/>
          </a:xfrm>
          <a:prstGeom prst="rect">
            <a:avLst/>
          </a:prstGeom>
        </p:spPr>
      </p:pic>
      <p:sp>
        <p:nvSpPr>
          <p:cNvPr id="14" name="Text 8"/>
          <p:cNvSpPr/>
          <p:nvPr/>
        </p:nvSpPr>
        <p:spPr>
          <a:xfrm>
            <a:off x="4635029" y="2776761"/>
            <a:ext cx="4012853"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Recruiter Copilot</a:t>
            </a:r>
            <a:endParaRPr lang="en-US" sz="1200" dirty="0"/>
          </a:p>
        </p:txBody>
      </p:sp>
      <p:sp>
        <p:nvSpPr>
          <p:cNvPr id="15" name="Text 9"/>
          <p:cNvSpPr/>
          <p:nvPr/>
        </p:nvSpPr>
        <p:spPr>
          <a:xfrm>
            <a:off x="4635029" y="3033489"/>
            <a:ext cx="4012853" cy="352723"/>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Contextual suggestions, message drafting, and candidate prioritization.</a:t>
            </a:r>
            <a:endParaRPr lang="en-US" sz="9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588023"/>
            <a:ext cx="298996" cy="298996"/>
          </a:xfrm>
          <a:prstGeom prst="rect">
            <a:avLst/>
          </a:prstGeom>
        </p:spPr>
      </p:pic>
      <p:sp>
        <p:nvSpPr>
          <p:cNvPr id="17" name="Text 10"/>
          <p:cNvSpPr/>
          <p:nvPr/>
        </p:nvSpPr>
        <p:spPr>
          <a:xfrm>
            <a:off x="496119" y="4013150"/>
            <a:ext cx="4012778"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Executive Dashboard Agent</a:t>
            </a:r>
            <a:endParaRPr lang="en-US" sz="1200" dirty="0"/>
          </a:p>
        </p:txBody>
      </p:sp>
      <p:sp>
        <p:nvSpPr>
          <p:cNvPr id="18" name="Text 11"/>
          <p:cNvSpPr/>
          <p:nvPr/>
        </p:nvSpPr>
        <p:spPr>
          <a:xfrm>
            <a:off x="496119" y="4269879"/>
            <a:ext cx="4012778" cy="176361"/>
          </a:xfrm>
          <a:prstGeom prst="rect">
            <a:avLst/>
          </a:prstGeom>
          <a:noFill/>
          <a:ln/>
        </p:spPr>
        <p:txBody>
          <a:bodyPr wrap="none" lIns="0" tIns="0" rIns="0" bIns="0" rtlCol="0" anchor="t"/>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Board-ready metrics and alerts for hiring health.</a:t>
            </a:r>
            <a:endParaRPr lang="en-US" sz="9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35029" y="3588023"/>
            <a:ext cx="298996" cy="298996"/>
          </a:xfrm>
          <a:prstGeom prst="rect">
            <a:avLst/>
          </a:prstGeom>
        </p:spPr>
      </p:pic>
      <p:sp>
        <p:nvSpPr>
          <p:cNvPr id="20" name="Text 12"/>
          <p:cNvSpPr/>
          <p:nvPr/>
        </p:nvSpPr>
        <p:spPr>
          <a:xfrm>
            <a:off x="4635029" y="4013150"/>
            <a:ext cx="4012853" cy="196230"/>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Petrona Bold" pitchFamily="34" charset="0"/>
                <a:ea typeface="Petrona Bold" pitchFamily="34" charset="-122"/>
                <a:cs typeface="Petrona Bold" pitchFamily="34" charset="-120"/>
              </a:rPr>
              <a:t>Platform Governance Agent</a:t>
            </a:r>
            <a:endParaRPr lang="en-US" sz="1200" dirty="0"/>
          </a:p>
        </p:txBody>
      </p:sp>
      <p:sp>
        <p:nvSpPr>
          <p:cNvPr id="21" name="Text 13"/>
          <p:cNvSpPr/>
          <p:nvPr/>
        </p:nvSpPr>
        <p:spPr>
          <a:xfrm>
            <a:off x="4635029" y="4269879"/>
            <a:ext cx="4012853" cy="176361"/>
          </a:xfrm>
          <a:prstGeom prst="rect">
            <a:avLst/>
          </a:prstGeom>
          <a:noFill/>
          <a:ln/>
        </p:spPr>
        <p:txBody>
          <a:bodyPr wrap="none" lIns="0" tIns="0" rIns="0" bIns="0" rtlCol="0" anchor="t"/>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Policy enforcement, audit trails, and data residency controls.</a:t>
            </a:r>
            <a:endParaRPr lang="en-US" sz="900" dirty="0"/>
          </a:p>
        </p:txBody>
      </p:sp>
      <p:sp>
        <p:nvSpPr>
          <p:cNvPr id="22" name="Text 14"/>
          <p:cNvSpPr/>
          <p:nvPr/>
        </p:nvSpPr>
        <p:spPr>
          <a:xfrm>
            <a:off x="496119" y="4559722"/>
            <a:ext cx="8608963" cy="176361"/>
          </a:xfrm>
          <a:prstGeom prst="rect">
            <a:avLst/>
          </a:prstGeom>
          <a:noFill/>
          <a:ln/>
        </p:spPr>
        <p:txBody>
          <a:bodyPr wrap="none" lIns="0" tIns="0" rIns="0" bIns="0" rtlCol="0" anchor="t"/>
          <a:lstStyle/>
          <a:p>
            <a:pPr marL="0" indent="0" algn="l">
              <a:lnSpc>
                <a:spcPct val="123000"/>
              </a:lnSpc>
              <a:buNone/>
            </a:pPr>
            <a:r>
              <a:rPr lang="en-US" sz="900" b="1" dirty="0">
                <a:solidFill>
                  <a:srgbClr val="272525"/>
                </a:solidFill>
                <a:latin typeface="Inter Bold" pitchFamily="34" charset="0"/>
                <a:ea typeface="Inter Bold" pitchFamily="34" charset="-122"/>
                <a:cs typeface="Inter Bold" pitchFamily="34" charset="-120"/>
              </a:rPr>
              <a:t>AI doesn't replace recruiters — it becomes their digital workforce.</a:t>
            </a:r>
            <a:endParaRPr lang="en-US" sz="900" dirty="0"/>
          </a:p>
        </p:txBody>
      </p:sp>
      <p:sp>
        <p:nvSpPr>
          <p:cNvPr id="24" name="Rectangle 23">
            <a:extLst>
              <a:ext uri="{FF2B5EF4-FFF2-40B4-BE49-F238E27FC236}">
                <a16:creationId xmlns:a16="http://schemas.microsoft.com/office/drawing/2014/main" id="{4139FBD3-9B07-7BEE-EE1D-D1ED9A09CAE7}"/>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9679" y="522089"/>
            <a:ext cx="8084567" cy="3486224"/>
          </a:xfrm>
          <a:prstGeom prst="rect">
            <a:avLst/>
          </a:prstGeom>
        </p:spPr>
      </p:pic>
      <p:sp>
        <p:nvSpPr>
          <p:cNvPr id="3" name="Text 0"/>
          <p:cNvSpPr/>
          <p:nvPr/>
        </p:nvSpPr>
        <p:spPr>
          <a:xfrm>
            <a:off x="1073714" y="3341463"/>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Hire &amp; Handoff</a:t>
            </a:r>
            <a:endParaRPr lang="en-US" sz="1500" dirty="0"/>
          </a:p>
        </p:txBody>
      </p:sp>
      <p:sp>
        <p:nvSpPr>
          <p:cNvPr id="4" name="Text 1"/>
          <p:cNvSpPr/>
          <p:nvPr/>
        </p:nvSpPr>
        <p:spPr>
          <a:xfrm>
            <a:off x="1073714" y="2534459"/>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Screen &amp; Rank</a:t>
            </a:r>
            <a:endParaRPr lang="en-US" sz="1500" dirty="0"/>
          </a:p>
        </p:txBody>
      </p:sp>
      <p:sp>
        <p:nvSpPr>
          <p:cNvPr id="5" name="Text 2"/>
          <p:cNvSpPr/>
          <p:nvPr/>
        </p:nvSpPr>
        <p:spPr>
          <a:xfrm>
            <a:off x="1073714" y="1735606"/>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Talent Discovery</a:t>
            </a:r>
            <a:endParaRPr lang="en-US" sz="1500" dirty="0"/>
          </a:p>
        </p:txBody>
      </p:sp>
      <p:sp>
        <p:nvSpPr>
          <p:cNvPr id="6" name="Text 3"/>
          <p:cNvSpPr/>
          <p:nvPr/>
        </p:nvSpPr>
        <p:spPr>
          <a:xfrm>
            <a:off x="1073714" y="928601"/>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Request &amp; Brief</a:t>
            </a:r>
            <a:endParaRPr lang="en-US" sz="1500" dirty="0"/>
          </a:p>
        </p:txBody>
      </p:sp>
      <p:sp>
        <p:nvSpPr>
          <p:cNvPr id="7" name="Text 4"/>
          <p:cNvSpPr/>
          <p:nvPr/>
        </p:nvSpPr>
        <p:spPr>
          <a:xfrm>
            <a:off x="496119" y="4167783"/>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Every stage is AI-assisted; humans retain decision authority. The workflow shortens time-to-hire while improving candidate quality and auditability.</a:t>
            </a:r>
            <a:endParaRPr lang="en-US" sz="1100" dirty="0"/>
          </a:p>
        </p:txBody>
      </p:sp>
      <p:sp>
        <p:nvSpPr>
          <p:cNvPr id="9" name="Rectangle 8">
            <a:extLst>
              <a:ext uri="{FF2B5EF4-FFF2-40B4-BE49-F238E27FC236}">
                <a16:creationId xmlns:a16="http://schemas.microsoft.com/office/drawing/2014/main" id="{A8B731B4-8E70-72D5-24B0-456BDDC1D1D2}"/>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gradFill>
          <a:gsLst>
            <a:gs pos="25000">
              <a:srgbClr val="CFDBEF"/>
            </a:gs>
            <a:gs pos="57000">
              <a:schemeClr val="accent1">
                <a:lumMod val="5000"/>
                <a:lumOff val="95000"/>
              </a:schemeClr>
            </a:gs>
            <a:gs pos="74000">
              <a:schemeClr val="accent1">
                <a:lumMod val="45000"/>
                <a:lumOff val="55000"/>
              </a:schemeClr>
            </a:gs>
            <a:gs pos="0">
              <a:schemeClr val="accent1">
                <a:lumMod val="45000"/>
                <a:lumOff val="55000"/>
              </a:schemeClr>
            </a:gs>
            <a:gs pos="81651">
              <a:schemeClr val="accent1">
                <a:lumMod val="45000"/>
                <a:lumOff val="55000"/>
              </a:schemeClr>
            </a:gs>
            <a:gs pos="45864">
              <a:srgbClr val="E8EEF7"/>
            </a:gs>
            <a:gs pos="11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603424"/>
            <a:ext cx="4722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Business Impact</a:t>
            </a:r>
            <a:endParaRPr lang="en-US" sz="2900" dirty="0"/>
          </a:p>
        </p:txBody>
      </p:sp>
      <p:sp>
        <p:nvSpPr>
          <p:cNvPr id="4" name="Text 1"/>
          <p:cNvSpPr/>
          <p:nvPr/>
        </p:nvSpPr>
        <p:spPr>
          <a:xfrm>
            <a:off x="496119" y="1422946"/>
            <a:ext cx="2188443" cy="232544"/>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Petrona Bold" pitchFamily="34" charset="0"/>
                <a:ea typeface="Petrona Bold" pitchFamily="34" charset="-122"/>
                <a:cs typeface="Petrona Bold" pitchFamily="34" charset="-120"/>
              </a:rPr>
              <a:t>For Customers</a:t>
            </a:r>
            <a:endParaRPr lang="en-US" sz="1450" dirty="0"/>
          </a:p>
        </p:txBody>
      </p:sp>
      <p:sp>
        <p:nvSpPr>
          <p:cNvPr id="5" name="Text 2"/>
          <p:cNvSpPr/>
          <p:nvPr/>
        </p:nvSpPr>
        <p:spPr>
          <a:xfrm>
            <a:off x="496119" y="1797248"/>
            <a:ext cx="2188443" cy="2693194"/>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Faster candidate discovery and better shortlist quality</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Reduced manual sourcing and duplicated effort</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Higher recruiter productivity and better candidate experience</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Unified operations with improved hiring visibility</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Enterprise-grade governance and compliance</a:t>
            </a:r>
            <a:endParaRPr lang="en-US" sz="1100" dirty="0"/>
          </a:p>
        </p:txBody>
      </p:sp>
      <p:sp>
        <p:nvSpPr>
          <p:cNvPr id="6" name="Text 3"/>
          <p:cNvSpPr/>
          <p:nvPr/>
        </p:nvSpPr>
        <p:spPr>
          <a:xfrm>
            <a:off x="3035201" y="1422946"/>
            <a:ext cx="2188443" cy="232544"/>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Petrona Bold" pitchFamily="34" charset="0"/>
                <a:ea typeface="Petrona Bold" pitchFamily="34" charset="-122"/>
                <a:cs typeface="Petrona Bold" pitchFamily="34" charset="-120"/>
              </a:rPr>
              <a:t>For the Company</a:t>
            </a:r>
            <a:endParaRPr lang="en-US" sz="1450" dirty="0"/>
          </a:p>
        </p:txBody>
      </p:sp>
      <p:sp>
        <p:nvSpPr>
          <p:cNvPr id="7" name="Text 4"/>
          <p:cNvSpPr/>
          <p:nvPr/>
        </p:nvSpPr>
        <p:spPr>
          <a:xfrm>
            <a:off x="3035201" y="1797248"/>
            <a:ext cx="2188443" cy="219000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Recurring SaaS revenue and enterprise licensing</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AI usage-based credits and monetizable marketplace</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Professional services for onboarding and integrations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High customer retention via platform lock-in and integrations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16496"/>
            <a:ext cx="8151763" cy="407045"/>
          </a:xfrm>
          <a:prstGeom prst="rect">
            <a:avLst/>
          </a:prstGeom>
          <a:noFill/>
          <a:ln/>
        </p:spPr>
        <p:txBody>
          <a:bodyPr wrap="none" lIns="0" tIns="0" rIns="0" bIns="0" rtlCol="0" anchor="t"/>
          <a:lstStyle/>
          <a:p>
            <a:pPr marL="0" indent="0" algn="l">
              <a:lnSpc>
                <a:spcPct val="104000"/>
              </a:lnSpc>
              <a:buNone/>
            </a:pPr>
            <a:r>
              <a:rPr lang="en-US" sz="2550" b="1" dirty="0">
                <a:solidFill>
                  <a:srgbClr val="000000"/>
                </a:solidFill>
                <a:latin typeface="Petrona Bold" pitchFamily="34" charset="0"/>
                <a:ea typeface="Petrona Bold" pitchFamily="34" charset="-122"/>
                <a:cs typeface="Petrona Bold" pitchFamily="34" charset="-120"/>
              </a:rPr>
              <a:t>Why Should We Build TalentSphere?</a:t>
            </a:r>
            <a:endParaRPr lang="en-US" sz="2550" dirty="0"/>
          </a:p>
        </p:txBody>
      </p:sp>
      <p:sp>
        <p:nvSpPr>
          <p:cNvPr id="3" name="Text 1"/>
          <p:cNvSpPr/>
          <p:nvPr/>
        </p:nvSpPr>
        <p:spPr>
          <a:xfrm>
            <a:off x="496119" y="866924"/>
            <a:ext cx="8151763" cy="203522"/>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Petrona Bold" pitchFamily="34" charset="0"/>
                <a:ea typeface="Petrona Bold" pitchFamily="34" charset="-122"/>
                <a:cs typeface="Petrona Bold" pitchFamily="34" charset="-120"/>
              </a:rPr>
              <a:t>Strategic Benefits for Our Company</a:t>
            </a:r>
            <a:endParaRPr lang="en-US" sz="1250" dirty="0"/>
          </a:p>
        </p:txBody>
      </p:sp>
      <p:sp>
        <p:nvSpPr>
          <p:cNvPr id="4" name="Text 2"/>
          <p:cNvSpPr/>
          <p:nvPr/>
        </p:nvSpPr>
        <p:spPr>
          <a:xfrm>
            <a:off x="496119" y="1341686"/>
            <a:ext cx="3924598" cy="203522"/>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Petrona Bold" pitchFamily="34" charset="0"/>
                <a:ea typeface="Petrona Bold" pitchFamily="34" charset="-122"/>
                <a:cs typeface="Petrona Bold" pitchFamily="34" charset="-120"/>
              </a:rPr>
              <a:t>Strategic Benefits</a:t>
            </a:r>
            <a:endParaRPr lang="en-US" sz="1250" dirty="0"/>
          </a:p>
        </p:txBody>
      </p:sp>
      <p:sp>
        <p:nvSpPr>
          <p:cNvPr id="5" name="Text 3"/>
          <p:cNvSpPr/>
          <p:nvPr/>
        </p:nvSpPr>
        <p:spPr>
          <a:xfrm>
            <a:off x="496119" y="1653704"/>
            <a:ext cx="3924598" cy="1640086"/>
          </a:xfrm>
          <a:prstGeom prst="rect">
            <a:avLst/>
          </a:prstGeom>
          <a:noFill/>
          <a:ln/>
        </p:spPr>
        <p:txBody>
          <a:bodyPr wrap="square" lIns="0" tIns="0" rIns="0" bIns="0" rtlCol="0" anchor="t">
            <a:normAutofit/>
          </a:bodyPr>
          <a:lstStyle/>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Expand from HRMS into a complete Talent Acquisition Platform</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Create a high-value enterprise SaaS product with recurring subscription revenue</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Cross-sell TalentSphere with our existing HRMS and future HR products</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Differentiate our company through AI-powered recruitment automation</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Build a scalable platform that can evolve with customer needs</a:t>
            </a:r>
            <a:endParaRPr lang="en-US" sz="950" dirty="0"/>
          </a:p>
        </p:txBody>
      </p:sp>
      <p:sp>
        <p:nvSpPr>
          <p:cNvPr id="6" name="Text 4"/>
          <p:cNvSpPr/>
          <p:nvPr/>
        </p:nvSpPr>
        <p:spPr>
          <a:xfrm>
            <a:off x="4728046" y="1341686"/>
            <a:ext cx="3924598" cy="203522"/>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Petrona Bold" pitchFamily="34" charset="0"/>
                <a:ea typeface="Petrona Bold" pitchFamily="34" charset="-122"/>
                <a:cs typeface="Petrona Bold" pitchFamily="34" charset="-120"/>
              </a:rPr>
              <a:t>Customer Benefits</a:t>
            </a:r>
            <a:endParaRPr lang="en-US" sz="1250" dirty="0"/>
          </a:p>
        </p:txBody>
      </p:sp>
      <p:sp>
        <p:nvSpPr>
          <p:cNvPr id="7" name="Text 5"/>
          <p:cNvSpPr/>
          <p:nvPr/>
        </p:nvSpPr>
        <p:spPr>
          <a:xfrm>
            <a:off x="4728046" y="1653704"/>
            <a:ext cx="3924598" cy="1081980"/>
          </a:xfrm>
          <a:prstGeom prst="rect">
            <a:avLst/>
          </a:prstGeom>
          <a:noFill/>
          <a:ln/>
        </p:spPr>
        <p:txBody>
          <a:bodyPr wrap="square" lIns="0" tIns="0" rIns="0" bIns="0" rtlCol="0" anchor="t">
            <a:normAutofit/>
          </a:bodyPr>
          <a:lstStyle/>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One platform instead of multiple recruitment tools</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AI-assisted candidate sourcing and screening</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Faster hiring with standardized workflows</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Better recruiter productivity</a:t>
            </a:r>
            <a:endParaRPr lang="en-US" sz="950" dirty="0"/>
          </a:p>
          <a:p>
            <a:pPr marL="193040" indent="-193040" algn="l">
              <a:lnSpc>
                <a:spcPct val="125000"/>
              </a:lnSpc>
              <a:buSzPct val="100000"/>
              <a:buChar char="•"/>
            </a:pPr>
            <a:r>
              <a:rPr lang="en-US" sz="950" dirty="0">
                <a:solidFill>
                  <a:srgbClr val="272525"/>
                </a:solidFill>
                <a:latin typeface="Inter" pitchFamily="34" charset="0"/>
                <a:ea typeface="Inter" pitchFamily="34" charset="-122"/>
                <a:cs typeface="Inter" pitchFamily="34" charset="-120"/>
              </a:rPr>
              <a:t>Centralized analytics and hiring visibility</a:t>
            </a:r>
            <a:endParaRPr lang="en-US" sz="950" dirty="0"/>
          </a:p>
        </p:txBody>
      </p:sp>
      <p:sp>
        <p:nvSpPr>
          <p:cNvPr id="8" name="Text 6"/>
          <p:cNvSpPr/>
          <p:nvPr/>
        </p:nvSpPr>
        <p:spPr>
          <a:xfrm>
            <a:off x="496119" y="3494484"/>
            <a:ext cx="8151763" cy="203522"/>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Petrona Bold" pitchFamily="34" charset="0"/>
                <a:ea typeface="Petrona Bold" pitchFamily="34" charset="-122"/>
                <a:cs typeface="Petrona Bold" pitchFamily="34" charset="-120"/>
              </a:rPr>
              <a:t>Long-Term Vision</a:t>
            </a:r>
            <a:endParaRPr lang="en-US" sz="1250" dirty="0"/>
          </a:p>
        </p:txBody>
      </p:sp>
      <p:sp>
        <p:nvSpPr>
          <p:cNvPr id="9" name="Text 7"/>
          <p:cNvSpPr/>
          <p:nvPr/>
        </p:nvSpPr>
        <p:spPr>
          <a:xfrm>
            <a:off x="496119" y="3860750"/>
            <a:ext cx="8151763" cy="866180"/>
          </a:xfrm>
          <a:prstGeom prst="rect">
            <a:avLst/>
          </a:prstGeom>
          <a:noFill/>
          <a:ln/>
        </p:spPr>
        <p:txBody>
          <a:bodyPr wrap="square" lIns="0" tIns="0" rIns="0" bIns="0" rtlCol="0" anchor="t">
            <a:normAutofit/>
          </a:bodyPr>
          <a:lstStyle/>
          <a:p>
            <a:pPr marL="0" indent="0" algn="l">
              <a:lnSpc>
                <a:spcPct val="125000"/>
              </a:lnSpc>
              <a:spcAft>
                <a:spcPts val="950"/>
              </a:spcAft>
              <a:buNone/>
            </a:pPr>
            <a:r>
              <a:rPr lang="en-US" sz="950" dirty="0">
                <a:solidFill>
                  <a:srgbClr val="272525"/>
                </a:solidFill>
                <a:latin typeface="Inter" pitchFamily="34" charset="0"/>
                <a:ea typeface="Inter" pitchFamily="34" charset="-122"/>
                <a:cs typeface="Inter" pitchFamily="34" charset="-120"/>
              </a:rPr>
              <a:t>TalentSphere is not intended to replace every recruitment platform. Instead, it becomes the intelligent orchestration layer that connects candidates, recruiters, hiring managers, enterprise systems, and AI agents into one unified recruitment experience.</a:t>
            </a:r>
            <a:endParaRPr lang="en-US" sz="950" dirty="0"/>
          </a:p>
          <a:p>
            <a:pPr marL="0" indent="0" algn="l">
              <a:lnSpc>
                <a:spcPct val="125000"/>
              </a:lnSpc>
              <a:buNone/>
            </a:pPr>
            <a:r>
              <a:rPr lang="en-US" sz="950" b="1" dirty="0">
                <a:solidFill>
                  <a:srgbClr val="272525"/>
                </a:solidFill>
                <a:latin typeface="Inter Bold" pitchFamily="34" charset="0"/>
                <a:ea typeface="Inter Bold" pitchFamily="34" charset="-122"/>
                <a:cs typeface="Inter Bold" pitchFamily="34" charset="-120"/>
              </a:rPr>
              <a:t>TalentSphere positions our company to move beyond building HR software and toward building an enterprise AI platform for Talent Acquisition.</a:t>
            </a:r>
            <a:endParaRPr lang="en-US" sz="950" dirty="0"/>
          </a:p>
        </p:txBody>
      </p:sp>
      <p:sp>
        <p:nvSpPr>
          <p:cNvPr id="11" name="Rectangle 10">
            <a:extLst>
              <a:ext uri="{FF2B5EF4-FFF2-40B4-BE49-F238E27FC236}">
                <a16:creationId xmlns:a16="http://schemas.microsoft.com/office/drawing/2014/main" id="{B0B7054A-1750-A738-F0C4-DF2666761A4A}"/>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519559"/>
            <a:ext cx="4722763" cy="755749"/>
          </a:xfrm>
          <a:prstGeom prst="rect">
            <a:avLst/>
          </a:prstGeom>
          <a:noFill/>
          <a:ln/>
        </p:spPr>
        <p:txBody>
          <a:bodyPr wrap="square" lIns="0" tIns="0" rIns="0" bIns="0" rtlCol="0" anchor="t">
            <a:normAutofit/>
          </a:bodyPr>
          <a:lstStyle/>
          <a:p>
            <a:pPr marL="0" indent="0" algn="l">
              <a:lnSpc>
                <a:spcPct val="104000"/>
              </a:lnSpc>
              <a:buNone/>
            </a:pPr>
            <a:r>
              <a:rPr lang="en-US" sz="2350" b="1" dirty="0">
                <a:solidFill>
                  <a:srgbClr val="000000"/>
                </a:solidFill>
                <a:latin typeface="Petrona Bold" pitchFamily="34" charset="0"/>
                <a:ea typeface="Petrona Bold" pitchFamily="34" charset="-122"/>
                <a:cs typeface="Petrona Bold" pitchFamily="34" charset="-120"/>
              </a:rPr>
              <a:t>Why Will Customers Choose TalentSphere?</a:t>
            </a:r>
            <a:endParaRPr lang="en-US" sz="2350" dirty="0"/>
          </a:p>
        </p:txBody>
      </p:sp>
      <p:sp>
        <p:nvSpPr>
          <p:cNvPr id="4" name="Text 1"/>
          <p:cNvSpPr/>
          <p:nvPr/>
        </p:nvSpPr>
        <p:spPr>
          <a:xfrm>
            <a:off x="3925119" y="1415653"/>
            <a:ext cx="4722763" cy="333970"/>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272525"/>
                </a:solidFill>
                <a:latin typeface="Inter" pitchFamily="34" charset="0"/>
                <a:ea typeface="Inter" pitchFamily="34" charset="-122"/>
                <a:cs typeface="Inter" pitchFamily="34" charset="-120"/>
              </a:rPr>
              <a:t>TalentSphere becomes the single intelligent workspace by integrating existing tools, powering AI-assisted screening, and centralizing operations for scale and governance.</a:t>
            </a:r>
            <a:endParaRPr lang="en-US" sz="900" dirty="0"/>
          </a:p>
        </p:txBody>
      </p:sp>
      <p:sp>
        <p:nvSpPr>
          <p:cNvPr id="5" name="Shape 2"/>
          <p:cNvSpPr/>
          <p:nvPr/>
        </p:nvSpPr>
        <p:spPr>
          <a:xfrm>
            <a:off x="3925119" y="1854845"/>
            <a:ext cx="14288" cy="2496889"/>
          </a:xfrm>
          <a:prstGeom prst="roundRect">
            <a:avLst>
              <a:gd name="adj" fmla="val 338593"/>
            </a:avLst>
          </a:prstGeom>
          <a:solidFill>
            <a:srgbClr val="B2D4E5"/>
          </a:solidFill>
          <a:ln/>
        </p:spPr>
      </p:sp>
      <p:sp>
        <p:nvSpPr>
          <p:cNvPr id="6" name="Shape 3"/>
          <p:cNvSpPr/>
          <p:nvPr/>
        </p:nvSpPr>
        <p:spPr>
          <a:xfrm>
            <a:off x="3939406" y="1854845"/>
            <a:ext cx="4722763" cy="651867"/>
          </a:xfrm>
          <a:prstGeom prst="rect">
            <a:avLst/>
          </a:prstGeom>
          <a:solidFill>
            <a:srgbClr val="CCEEFF"/>
          </a:solidFill>
          <a:ln w="4763">
            <a:solidFill>
              <a:srgbClr val="B2D4E5"/>
            </a:solidFill>
            <a:prstDash val="solid"/>
          </a:ln>
        </p:spPr>
      </p:sp>
      <p:sp>
        <p:nvSpPr>
          <p:cNvPr id="7" name="Text 4"/>
          <p:cNvSpPr/>
          <p:nvPr/>
        </p:nvSpPr>
        <p:spPr>
          <a:xfrm>
            <a:off x="4054525" y="1974726"/>
            <a:ext cx="4487763" cy="189012"/>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Petrona Bold" pitchFamily="34" charset="0"/>
                <a:ea typeface="Petrona Bold" pitchFamily="34" charset="-122"/>
                <a:cs typeface="Petrona Bold" pitchFamily="34" charset="-120"/>
              </a:rPr>
              <a:t>Recruitment Agencies</a:t>
            </a:r>
            <a:endParaRPr lang="en-US" sz="1150" dirty="0"/>
          </a:p>
        </p:txBody>
      </p:sp>
      <p:sp>
        <p:nvSpPr>
          <p:cNvPr id="8" name="Text 5"/>
          <p:cNvSpPr/>
          <p:nvPr/>
        </p:nvSpPr>
        <p:spPr>
          <a:xfrm>
            <a:off x="4054525" y="2219846"/>
            <a:ext cx="4487763" cy="166985"/>
          </a:xfrm>
          <a:prstGeom prst="rect">
            <a:avLst/>
          </a:prstGeom>
          <a:noFill/>
          <a:ln/>
        </p:spPr>
        <p:txBody>
          <a:bodyPr wrap="none" lIns="0" tIns="0" rIns="0" bIns="0" rtlCol="0" anchor="t"/>
          <a:lstStyle/>
          <a:p>
            <a:pPr marL="0" indent="0" algn="l">
              <a:lnSpc>
                <a:spcPct val="121000"/>
              </a:lnSpc>
              <a:buNone/>
            </a:pPr>
            <a:r>
              <a:rPr lang="en-US" sz="900" dirty="0">
                <a:solidFill>
                  <a:srgbClr val="272525"/>
                </a:solidFill>
                <a:latin typeface="Inter" pitchFamily="34" charset="0"/>
                <a:ea typeface="Inter" pitchFamily="34" charset="-122"/>
                <a:cs typeface="Inter" pitchFamily="34" charset="-120"/>
              </a:rPr>
              <a:t>Manage end-to-end hiring, reduce manual effort, and speed delivery to clients.</a:t>
            </a:r>
            <a:endParaRPr lang="en-US" sz="900" dirty="0"/>
          </a:p>
        </p:txBody>
      </p:sp>
      <p:sp>
        <p:nvSpPr>
          <p:cNvPr id="9" name="Shape 6"/>
          <p:cNvSpPr/>
          <p:nvPr/>
        </p:nvSpPr>
        <p:spPr>
          <a:xfrm>
            <a:off x="3939406" y="2693863"/>
            <a:ext cx="4722763" cy="818852"/>
          </a:xfrm>
          <a:prstGeom prst="rect">
            <a:avLst/>
          </a:prstGeom>
          <a:solidFill>
            <a:srgbClr val="CCEEFF"/>
          </a:solidFill>
          <a:ln w="4763">
            <a:solidFill>
              <a:srgbClr val="B2D4E5"/>
            </a:solidFill>
            <a:prstDash val="solid"/>
          </a:ln>
        </p:spPr>
      </p:sp>
      <p:sp>
        <p:nvSpPr>
          <p:cNvPr id="10" name="Text 7"/>
          <p:cNvSpPr/>
          <p:nvPr/>
        </p:nvSpPr>
        <p:spPr>
          <a:xfrm>
            <a:off x="4054525" y="2813745"/>
            <a:ext cx="4487763" cy="189012"/>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Petrona Bold" pitchFamily="34" charset="0"/>
                <a:ea typeface="Petrona Bold" pitchFamily="34" charset="-122"/>
                <a:cs typeface="Petrona Bold" pitchFamily="34" charset="-120"/>
              </a:rPr>
              <a:t>Enterprise HR Teams</a:t>
            </a:r>
            <a:endParaRPr lang="en-US" sz="1150" dirty="0"/>
          </a:p>
        </p:txBody>
      </p:sp>
      <p:sp>
        <p:nvSpPr>
          <p:cNvPr id="11" name="Text 8"/>
          <p:cNvSpPr/>
          <p:nvPr/>
        </p:nvSpPr>
        <p:spPr>
          <a:xfrm>
            <a:off x="4054525" y="3058864"/>
            <a:ext cx="4487763" cy="333970"/>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272525"/>
                </a:solidFill>
                <a:latin typeface="Inter" pitchFamily="34" charset="0"/>
                <a:ea typeface="Inter" pitchFamily="34" charset="-122"/>
                <a:cs typeface="Inter" pitchFamily="34" charset="-120"/>
              </a:rPr>
              <a:t>Standardize workflows, improve collaboration, and enable data-driven hiring decisions.</a:t>
            </a:r>
            <a:endParaRPr lang="en-US" sz="900" dirty="0"/>
          </a:p>
        </p:txBody>
      </p:sp>
      <p:sp>
        <p:nvSpPr>
          <p:cNvPr id="12" name="Shape 9"/>
          <p:cNvSpPr/>
          <p:nvPr/>
        </p:nvSpPr>
        <p:spPr>
          <a:xfrm>
            <a:off x="3939406" y="3699867"/>
            <a:ext cx="4722763" cy="651867"/>
          </a:xfrm>
          <a:prstGeom prst="rect">
            <a:avLst/>
          </a:prstGeom>
          <a:solidFill>
            <a:srgbClr val="CCEEFF"/>
          </a:solidFill>
          <a:ln w="4763">
            <a:solidFill>
              <a:srgbClr val="B2D4E5"/>
            </a:solidFill>
            <a:prstDash val="solid"/>
          </a:ln>
        </p:spPr>
      </p:sp>
      <p:sp>
        <p:nvSpPr>
          <p:cNvPr id="13" name="Text 10"/>
          <p:cNvSpPr/>
          <p:nvPr/>
        </p:nvSpPr>
        <p:spPr>
          <a:xfrm>
            <a:off x="4054525" y="3819748"/>
            <a:ext cx="4487763" cy="189012"/>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Petrona Bold" pitchFamily="34" charset="0"/>
                <a:ea typeface="Petrona Bold" pitchFamily="34" charset="-122"/>
                <a:cs typeface="Petrona Bold" pitchFamily="34" charset="-120"/>
              </a:rPr>
              <a:t>Business Leaders</a:t>
            </a:r>
            <a:endParaRPr lang="en-US" sz="1150" dirty="0"/>
          </a:p>
        </p:txBody>
      </p:sp>
      <p:sp>
        <p:nvSpPr>
          <p:cNvPr id="14" name="Text 11"/>
          <p:cNvSpPr/>
          <p:nvPr/>
        </p:nvSpPr>
        <p:spPr>
          <a:xfrm>
            <a:off x="4054525" y="4064868"/>
            <a:ext cx="4487763" cy="166985"/>
          </a:xfrm>
          <a:prstGeom prst="rect">
            <a:avLst/>
          </a:prstGeom>
          <a:noFill/>
          <a:ln/>
        </p:spPr>
        <p:txBody>
          <a:bodyPr wrap="none" lIns="0" tIns="0" rIns="0" bIns="0" rtlCol="0" anchor="t"/>
          <a:lstStyle/>
          <a:p>
            <a:pPr marL="0" indent="0" algn="l">
              <a:lnSpc>
                <a:spcPct val="121000"/>
              </a:lnSpc>
              <a:buNone/>
            </a:pPr>
            <a:r>
              <a:rPr lang="en-US" sz="900" dirty="0">
                <a:solidFill>
                  <a:srgbClr val="272525"/>
                </a:solidFill>
                <a:latin typeface="Inter" pitchFamily="34" charset="0"/>
                <a:ea typeface="Inter" pitchFamily="34" charset="-122"/>
                <a:cs typeface="Inter" pitchFamily="34" charset="-120"/>
              </a:rPr>
              <a:t>Lower operational complexity, retain existing tools, and get centralized analytics.</a:t>
            </a:r>
            <a:endParaRPr lang="en-US" sz="900" dirty="0"/>
          </a:p>
        </p:txBody>
      </p:sp>
      <p:sp>
        <p:nvSpPr>
          <p:cNvPr id="15" name="Text 12"/>
          <p:cNvSpPr/>
          <p:nvPr/>
        </p:nvSpPr>
        <p:spPr>
          <a:xfrm>
            <a:off x="3925119" y="4456956"/>
            <a:ext cx="5179963" cy="166985"/>
          </a:xfrm>
          <a:prstGeom prst="rect">
            <a:avLst/>
          </a:prstGeom>
          <a:noFill/>
          <a:ln/>
        </p:spPr>
        <p:txBody>
          <a:bodyPr wrap="none" lIns="0" tIns="0" rIns="0" bIns="0" rtlCol="0" anchor="t"/>
          <a:lstStyle/>
          <a:p>
            <a:pPr marL="0" indent="0" algn="l">
              <a:lnSpc>
                <a:spcPct val="121000"/>
              </a:lnSpc>
              <a:buNone/>
            </a:pPr>
            <a:r>
              <a:rPr lang="en-US" sz="900" b="1" dirty="0">
                <a:solidFill>
                  <a:srgbClr val="272525"/>
                </a:solidFill>
                <a:latin typeface="Inter Bold" pitchFamily="34" charset="0"/>
                <a:ea typeface="Inter Bold" pitchFamily="34" charset="-122"/>
                <a:cs typeface="Inter Bold" pitchFamily="34" charset="-120"/>
              </a:rPr>
              <a:t>One Platform. Unified Hiring. AI-Assisted Decisions. Enterprise Scale.</a:t>
            </a:r>
            <a:endParaRPr lang="en-US" sz="900" dirty="0"/>
          </a:p>
        </p:txBody>
      </p:sp>
      <p:sp>
        <p:nvSpPr>
          <p:cNvPr id="17" name="Rectangle 16">
            <a:extLst>
              <a:ext uri="{FF2B5EF4-FFF2-40B4-BE49-F238E27FC236}">
                <a16:creationId xmlns:a16="http://schemas.microsoft.com/office/drawing/2014/main" id="{CDF98341-DDA6-3B0B-D4D7-7E7F77D77663}"/>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626492"/>
            <a:ext cx="4722763" cy="407045"/>
          </a:xfrm>
          <a:prstGeom prst="rect">
            <a:avLst/>
          </a:prstGeom>
          <a:noFill/>
          <a:ln/>
        </p:spPr>
        <p:txBody>
          <a:bodyPr wrap="none" lIns="0" tIns="0" rIns="0" bIns="0" rtlCol="0" anchor="t"/>
          <a:lstStyle/>
          <a:p>
            <a:pPr marL="0" indent="0" algn="l">
              <a:lnSpc>
                <a:spcPct val="104000"/>
              </a:lnSpc>
              <a:buNone/>
            </a:pPr>
            <a:r>
              <a:rPr lang="en-US" sz="2550" b="1" dirty="0">
                <a:solidFill>
                  <a:srgbClr val="000000"/>
                </a:solidFill>
                <a:latin typeface="Petrona Bold" pitchFamily="34" charset="0"/>
                <a:ea typeface="Petrona Bold" pitchFamily="34" charset="-122"/>
                <a:cs typeface="Petrona Bold" pitchFamily="34" charset="-120"/>
              </a:rPr>
              <a:t>The Future of Enterprise Hiring</a:t>
            </a:r>
            <a:endParaRPr lang="en-US" sz="2550" dirty="0"/>
          </a:p>
        </p:txBody>
      </p:sp>
      <p:sp>
        <p:nvSpPr>
          <p:cNvPr id="4" name="Text 1"/>
          <p:cNvSpPr/>
          <p:nvPr/>
        </p:nvSpPr>
        <p:spPr>
          <a:xfrm>
            <a:off x="3925119" y="1196280"/>
            <a:ext cx="4722763"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272525"/>
                </a:solidFill>
                <a:latin typeface="Inter" pitchFamily="34" charset="0"/>
                <a:ea typeface="Inter" pitchFamily="34" charset="-122"/>
                <a:cs typeface="Inter" pitchFamily="34" charset="-120"/>
              </a:rPr>
              <a:t>TalentSphere will be the intelligent operating layer for talent acquisition — a modular, scalable platform that combines AI agents, enterprise workflows, and unified operations.</a:t>
            </a:r>
            <a:endParaRPr lang="en-US" sz="9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5119" y="1876425"/>
            <a:ext cx="2307134" cy="1120750"/>
          </a:xfrm>
          <a:prstGeom prst="rect">
            <a:avLst/>
          </a:prstGeom>
        </p:spPr>
      </p:pic>
      <p:sp>
        <p:nvSpPr>
          <p:cNvPr id="6" name="Text 2"/>
          <p:cNvSpPr/>
          <p:nvPr/>
        </p:nvSpPr>
        <p:spPr>
          <a:xfrm>
            <a:off x="4120530" y="2014686"/>
            <a:ext cx="1973461" cy="407045"/>
          </a:xfrm>
          <a:prstGeom prst="rect">
            <a:avLst/>
          </a:prstGeom>
          <a:noFill/>
          <a:ln/>
        </p:spPr>
        <p:txBody>
          <a:bodyPr wrap="square" lIns="0" tIns="0" rIns="0" bIns="0" rtlCol="0" anchor="t">
            <a:normAutofit/>
          </a:bodyPr>
          <a:lstStyle/>
          <a:p>
            <a:pPr marL="0" indent="0" algn="l">
              <a:lnSpc>
                <a:spcPct val="104000"/>
              </a:lnSpc>
              <a:buNone/>
            </a:pPr>
            <a:r>
              <a:rPr lang="en-US" sz="1250" b="1" dirty="0">
                <a:solidFill>
                  <a:srgbClr val="272525"/>
                </a:solidFill>
                <a:latin typeface="Petrona Bold" pitchFamily="34" charset="0"/>
                <a:ea typeface="Petrona Bold" pitchFamily="34" charset="-122"/>
                <a:cs typeface="Petrona Bold" pitchFamily="34" charset="-120"/>
              </a:rPr>
              <a:t>Enterprise-ready Architecture</a:t>
            </a:r>
            <a:endParaRPr lang="en-US" sz="1250" dirty="0"/>
          </a:p>
        </p:txBody>
      </p:sp>
      <p:sp>
        <p:nvSpPr>
          <p:cNvPr id="7" name="Text 3"/>
          <p:cNvSpPr/>
          <p:nvPr/>
        </p:nvSpPr>
        <p:spPr>
          <a:xfrm>
            <a:off x="4120530" y="2486844"/>
            <a:ext cx="1973461" cy="372070"/>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272525"/>
                </a:solidFill>
                <a:latin typeface="Inter" pitchFamily="34" charset="0"/>
                <a:ea typeface="Inter" pitchFamily="34" charset="-122"/>
                <a:cs typeface="Inter" pitchFamily="34" charset="-120"/>
              </a:rPr>
              <a:t>Secure, auditable, and built for complex orgs.</a:t>
            </a:r>
            <a:endParaRPr lang="en-US" sz="9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0748" y="1876425"/>
            <a:ext cx="2307134" cy="1120750"/>
          </a:xfrm>
          <a:prstGeom prst="rect">
            <a:avLst/>
          </a:prstGeom>
        </p:spPr>
      </p:pic>
      <p:sp>
        <p:nvSpPr>
          <p:cNvPr id="9" name="Text 4"/>
          <p:cNvSpPr/>
          <p:nvPr/>
        </p:nvSpPr>
        <p:spPr>
          <a:xfrm>
            <a:off x="6536159" y="2014686"/>
            <a:ext cx="1973461" cy="203522"/>
          </a:xfrm>
          <a:prstGeom prst="rect">
            <a:avLst/>
          </a:prstGeom>
          <a:noFill/>
          <a:ln/>
        </p:spPr>
        <p:txBody>
          <a:bodyPr wrap="none" lIns="0" tIns="0" rIns="0" bIns="0" rtlCol="0" anchor="t"/>
          <a:lstStyle/>
          <a:p>
            <a:pPr marL="0" indent="0" algn="l">
              <a:lnSpc>
                <a:spcPct val="104000"/>
              </a:lnSpc>
              <a:buNone/>
            </a:pPr>
            <a:r>
              <a:rPr lang="en-US" sz="1250" b="1" dirty="0">
                <a:solidFill>
                  <a:srgbClr val="272525"/>
                </a:solidFill>
                <a:latin typeface="Petrona Bold" pitchFamily="34" charset="0"/>
                <a:ea typeface="Petrona Bold" pitchFamily="34" charset="-122"/>
                <a:cs typeface="Petrona Bold" pitchFamily="34" charset="-120"/>
              </a:rPr>
              <a:t>Practical Roadmap</a:t>
            </a:r>
            <a:endParaRPr lang="en-US" sz="1250" dirty="0"/>
          </a:p>
        </p:txBody>
      </p:sp>
      <p:sp>
        <p:nvSpPr>
          <p:cNvPr id="10" name="Text 5"/>
          <p:cNvSpPr/>
          <p:nvPr/>
        </p:nvSpPr>
        <p:spPr>
          <a:xfrm>
            <a:off x="6536159" y="2283321"/>
            <a:ext cx="1973461"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272525"/>
                </a:solidFill>
                <a:latin typeface="Inter" pitchFamily="34" charset="0"/>
                <a:ea typeface="Inter" pitchFamily="34" charset="-122"/>
                <a:cs typeface="Inter" pitchFamily="34" charset="-120"/>
              </a:rPr>
              <a:t>Phased deployments, measurable KPIs, and low-friction integrations.</a:t>
            </a:r>
            <a:endParaRPr lang="en-US" sz="9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5119" y="3105671"/>
            <a:ext cx="2307134" cy="1103263"/>
          </a:xfrm>
          <a:prstGeom prst="rect">
            <a:avLst/>
          </a:prstGeom>
        </p:spPr>
      </p:pic>
      <p:sp>
        <p:nvSpPr>
          <p:cNvPr id="12" name="Text 6"/>
          <p:cNvSpPr/>
          <p:nvPr/>
        </p:nvSpPr>
        <p:spPr>
          <a:xfrm>
            <a:off x="4120530" y="3243932"/>
            <a:ext cx="1973461" cy="203522"/>
          </a:xfrm>
          <a:prstGeom prst="rect">
            <a:avLst/>
          </a:prstGeom>
          <a:noFill/>
          <a:ln/>
        </p:spPr>
        <p:txBody>
          <a:bodyPr wrap="none" lIns="0" tIns="0" rIns="0" bIns="0" rtlCol="0" anchor="t"/>
          <a:lstStyle/>
          <a:p>
            <a:pPr marL="0" indent="0" algn="l">
              <a:lnSpc>
                <a:spcPct val="104000"/>
              </a:lnSpc>
              <a:buNone/>
            </a:pPr>
            <a:r>
              <a:rPr lang="en-US" sz="1250" b="1" dirty="0">
                <a:solidFill>
                  <a:srgbClr val="272525"/>
                </a:solidFill>
                <a:latin typeface="Petrona Bold" pitchFamily="34" charset="0"/>
                <a:ea typeface="Petrona Bold" pitchFamily="34" charset="-122"/>
                <a:cs typeface="Petrona Bold" pitchFamily="34" charset="-120"/>
              </a:rPr>
              <a:t>AI-driven Productivity</a:t>
            </a:r>
            <a:endParaRPr lang="en-US" sz="1250" dirty="0"/>
          </a:p>
        </p:txBody>
      </p:sp>
      <p:sp>
        <p:nvSpPr>
          <p:cNvPr id="13" name="Text 7"/>
          <p:cNvSpPr/>
          <p:nvPr/>
        </p:nvSpPr>
        <p:spPr>
          <a:xfrm>
            <a:off x="4120530" y="3512567"/>
            <a:ext cx="1973461" cy="372070"/>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272525"/>
                </a:solidFill>
                <a:latin typeface="Inter" pitchFamily="34" charset="0"/>
                <a:ea typeface="Inter" pitchFamily="34" charset="-122"/>
                <a:cs typeface="Inter" pitchFamily="34" charset="-120"/>
              </a:rPr>
              <a:t>Digital workforce supporting recruiters — not replacing them.</a:t>
            </a:r>
            <a:endParaRPr lang="en-US" sz="9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40748" y="3105671"/>
            <a:ext cx="2307134" cy="1103263"/>
          </a:xfrm>
          <a:prstGeom prst="rect">
            <a:avLst/>
          </a:prstGeom>
        </p:spPr>
      </p:pic>
      <p:sp>
        <p:nvSpPr>
          <p:cNvPr id="15" name="Text 8"/>
          <p:cNvSpPr/>
          <p:nvPr/>
        </p:nvSpPr>
        <p:spPr>
          <a:xfrm>
            <a:off x="6536159" y="3243932"/>
            <a:ext cx="1973461" cy="203522"/>
          </a:xfrm>
          <a:prstGeom prst="rect">
            <a:avLst/>
          </a:prstGeom>
          <a:noFill/>
          <a:ln/>
        </p:spPr>
        <p:txBody>
          <a:bodyPr wrap="none" lIns="0" tIns="0" rIns="0" bIns="0" rtlCol="0" anchor="t"/>
          <a:lstStyle/>
          <a:p>
            <a:pPr marL="0" indent="0" algn="l">
              <a:lnSpc>
                <a:spcPct val="104000"/>
              </a:lnSpc>
              <a:buNone/>
            </a:pPr>
            <a:r>
              <a:rPr lang="en-US" sz="1250" b="1" dirty="0">
                <a:solidFill>
                  <a:srgbClr val="272525"/>
                </a:solidFill>
                <a:latin typeface="Petrona Bold" pitchFamily="34" charset="0"/>
                <a:ea typeface="Petrona Bold" pitchFamily="34" charset="-122"/>
                <a:cs typeface="Petrona Bold" pitchFamily="34" charset="-120"/>
              </a:rPr>
              <a:t>Scalable Growth</a:t>
            </a:r>
            <a:endParaRPr lang="en-US" sz="1250" dirty="0"/>
          </a:p>
        </p:txBody>
      </p:sp>
      <p:sp>
        <p:nvSpPr>
          <p:cNvPr id="16" name="Text 9"/>
          <p:cNvSpPr/>
          <p:nvPr/>
        </p:nvSpPr>
        <p:spPr>
          <a:xfrm>
            <a:off x="6536159" y="3512567"/>
            <a:ext cx="1973461"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272525"/>
                </a:solidFill>
                <a:latin typeface="Inter" pitchFamily="34" charset="0"/>
                <a:ea typeface="Inter" pitchFamily="34" charset="-122"/>
                <a:cs typeface="Inter" pitchFamily="34" charset="-120"/>
              </a:rPr>
              <a:t>Modular product and monetization that scale from agencies to global enterprises.</a:t>
            </a:r>
            <a:endParaRPr lang="en-US" sz="950" dirty="0"/>
          </a:p>
        </p:txBody>
      </p:sp>
      <p:sp>
        <p:nvSpPr>
          <p:cNvPr id="17" name="Text 10"/>
          <p:cNvSpPr/>
          <p:nvPr/>
        </p:nvSpPr>
        <p:spPr>
          <a:xfrm>
            <a:off x="3925119" y="4330973"/>
            <a:ext cx="5179963" cy="186035"/>
          </a:xfrm>
          <a:prstGeom prst="rect">
            <a:avLst/>
          </a:prstGeom>
          <a:noFill/>
          <a:ln/>
        </p:spPr>
        <p:txBody>
          <a:bodyPr wrap="none" lIns="0" tIns="0" rIns="0" bIns="0" rtlCol="0" anchor="t"/>
          <a:lstStyle/>
          <a:p>
            <a:pPr marL="0" indent="0" algn="l">
              <a:lnSpc>
                <a:spcPct val="125000"/>
              </a:lnSpc>
              <a:buNone/>
            </a:pPr>
            <a:r>
              <a:rPr lang="en-US" sz="950" b="1" dirty="0">
                <a:solidFill>
                  <a:srgbClr val="272525"/>
                </a:solidFill>
                <a:latin typeface="Inter Bold" pitchFamily="34" charset="0"/>
                <a:ea typeface="Inter Bold" pitchFamily="34" charset="-122"/>
                <a:cs typeface="Inter Bold" pitchFamily="34" charset="-120"/>
              </a:rPr>
              <a:t>"From Hiring Software to an AI Workforce for Recruitment."</a:t>
            </a:r>
            <a:endParaRPr lang="en-US" sz="950" dirty="0"/>
          </a:p>
        </p:txBody>
      </p:sp>
      <p:sp>
        <p:nvSpPr>
          <p:cNvPr id="19" name="Rectangle 18">
            <a:extLst>
              <a:ext uri="{FF2B5EF4-FFF2-40B4-BE49-F238E27FC236}">
                <a16:creationId xmlns:a16="http://schemas.microsoft.com/office/drawing/2014/main" id="{0CC16100-C63A-5375-E2FA-9FBFAEB60C5B}"/>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CF6BF01-265A-7072-1CBB-044E4A6F79FE}"/>
              </a:ext>
            </a:extLst>
          </p:cNvPr>
          <p:cNvSpPr/>
          <p:nvPr/>
        </p:nvSpPr>
        <p:spPr>
          <a:xfrm>
            <a:off x="496119" y="437778"/>
            <a:ext cx="8151763" cy="283369"/>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Petrona Bold" pitchFamily="34" charset="0"/>
                <a:ea typeface="Petrona Bold" pitchFamily="34" charset="-122"/>
                <a:cs typeface="Petrona Bold" pitchFamily="34" charset="-120"/>
              </a:rPr>
              <a:t>Thank You</a:t>
            </a:r>
            <a:endParaRPr lang="en-US" sz="1750" dirty="0"/>
          </a:p>
        </p:txBody>
      </p:sp>
      <p:sp>
        <p:nvSpPr>
          <p:cNvPr id="5" name="Text 1">
            <a:extLst>
              <a:ext uri="{FF2B5EF4-FFF2-40B4-BE49-F238E27FC236}">
                <a16:creationId xmlns:a16="http://schemas.microsoft.com/office/drawing/2014/main" id="{1E506B88-01E5-A9A5-187B-3CBAFEBF8BE0}"/>
              </a:ext>
            </a:extLst>
          </p:cNvPr>
          <p:cNvSpPr/>
          <p:nvPr/>
        </p:nvSpPr>
        <p:spPr>
          <a:xfrm>
            <a:off x="496119" y="742131"/>
            <a:ext cx="8151763" cy="141759"/>
          </a:xfrm>
          <a:prstGeom prst="rect">
            <a:avLst/>
          </a:prstGeom>
          <a:noFill/>
          <a:ln/>
        </p:spPr>
        <p:txBody>
          <a:bodyPr wrap="none" lIns="0" tIns="0" rIns="0" bIns="0" rtlCol="0" anchor="t"/>
          <a:lstStyle/>
          <a:p>
            <a:pPr marL="0" indent="0" algn="l">
              <a:lnSpc>
                <a:spcPct val="104000"/>
              </a:lnSpc>
              <a:buNone/>
            </a:pPr>
            <a:r>
              <a:rPr lang="en-US" sz="850" b="1" dirty="0">
                <a:solidFill>
                  <a:srgbClr val="000000"/>
                </a:solidFill>
                <a:latin typeface="Petrona Bold" pitchFamily="34" charset="0"/>
                <a:ea typeface="Petrona Bold" pitchFamily="34" charset="-122"/>
                <a:cs typeface="Petrona Bold" pitchFamily="34" charset="-120"/>
              </a:rPr>
              <a:t>TalentSphere</a:t>
            </a:r>
            <a:endParaRPr lang="en-US" sz="850" dirty="0"/>
          </a:p>
        </p:txBody>
      </p:sp>
      <p:sp>
        <p:nvSpPr>
          <p:cNvPr id="7" name="Text 2">
            <a:extLst>
              <a:ext uri="{FF2B5EF4-FFF2-40B4-BE49-F238E27FC236}">
                <a16:creationId xmlns:a16="http://schemas.microsoft.com/office/drawing/2014/main" id="{F0CADB0F-FA71-C7AD-FE2C-152BE5F69D05}"/>
              </a:ext>
            </a:extLst>
          </p:cNvPr>
          <p:cNvSpPr/>
          <p:nvPr/>
        </p:nvSpPr>
        <p:spPr>
          <a:xfrm>
            <a:off x="496119" y="962844"/>
            <a:ext cx="8608963" cy="111175"/>
          </a:xfrm>
          <a:prstGeom prst="rect">
            <a:avLst/>
          </a:prstGeom>
          <a:noFill/>
          <a:ln/>
        </p:spPr>
        <p:txBody>
          <a:bodyPr wrap="none" lIns="0" tIns="0" rIns="0" bIns="0" rtlCol="0" anchor="t"/>
          <a:lstStyle/>
          <a:p>
            <a:pPr marL="0" indent="0" algn="l">
              <a:lnSpc>
                <a:spcPct val="107000"/>
              </a:lnSpc>
              <a:buNone/>
            </a:pPr>
            <a:r>
              <a:rPr lang="en-US" sz="650" i="1" dirty="0">
                <a:solidFill>
                  <a:srgbClr val="272525"/>
                </a:solidFill>
                <a:latin typeface="Inter" pitchFamily="34" charset="0"/>
                <a:ea typeface="Inter" pitchFamily="34" charset="-122"/>
                <a:cs typeface="Inter" pitchFamily="34" charset="-120"/>
              </a:rPr>
              <a:t>AI-Powered Talent Acquisition Platform</a:t>
            </a:r>
            <a:endParaRPr lang="en-US" sz="650" dirty="0"/>
          </a:p>
        </p:txBody>
      </p:sp>
      <p:sp>
        <p:nvSpPr>
          <p:cNvPr id="9" name="Shape 3">
            <a:extLst>
              <a:ext uri="{FF2B5EF4-FFF2-40B4-BE49-F238E27FC236}">
                <a16:creationId xmlns:a16="http://schemas.microsoft.com/office/drawing/2014/main" id="{5474D5DC-BEA3-45E1-ECEF-40DDEEFB3BF1}"/>
              </a:ext>
            </a:extLst>
          </p:cNvPr>
          <p:cNvSpPr/>
          <p:nvPr/>
        </p:nvSpPr>
        <p:spPr>
          <a:xfrm>
            <a:off x="496119" y="1154757"/>
            <a:ext cx="8151763" cy="9525"/>
          </a:xfrm>
          <a:prstGeom prst="roundRect">
            <a:avLst>
              <a:gd name="adj" fmla="val 60000"/>
            </a:avLst>
          </a:prstGeom>
          <a:solidFill>
            <a:srgbClr val="272525">
              <a:alpha val="50000"/>
            </a:srgbClr>
          </a:solidFill>
          <a:ln/>
        </p:spPr>
      </p:sp>
      <p:sp>
        <p:nvSpPr>
          <p:cNvPr id="11" name="Text 4">
            <a:extLst>
              <a:ext uri="{FF2B5EF4-FFF2-40B4-BE49-F238E27FC236}">
                <a16:creationId xmlns:a16="http://schemas.microsoft.com/office/drawing/2014/main" id="{5C021905-9900-CC03-DFA6-58D520B2AFFA}"/>
              </a:ext>
            </a:extLst>
          </p:cNvPr>
          <p:cNvSpPr/>
          <p:nvPr/>
        </p:nvSpPr>
        <p:spPr>
          <a:xfrm>
            <a:off x="496119" y="1264816"/>
            <a:ext cx="8151763" cy="170036"/>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Petrona Bold" pitchFamily="34" charset="0"/>
                <a:ea typeface="Petrona Bold" pitchFamily="34" charset="-122"/>
                <a:cs typeface="Petrona Bold" pitchFamily="34" charset="-120"/>
              </a:rPr>
              <a:t>Vision Statement</a:t>
            </a:r>
            <a:endParaRPr lang="en-US" sz="1050" dirty="0"/>
          </a:p>
        </p:txBody>
      </p:sp>
      <p:sp>
        <p:nvSpPr>
          <p:cNvPr id="13" name="Text 5">
            <a:extLst>
              <a:ext uri="{FF2B5EF4-FFF2-40B4-BE49-F238E27FC236}">
                <a16:creationId xmlns:a16="http://schemas.microsoft.com/office/drawing/2014/main" id="{5575D1B4-365E-A98A-3544-A708DCCA6B38}"/>
              </a:ext>
            </a:extLst>
          </p:cNvPr>
          <p:cNvSpPr/>
          <p:nvPr/>
        </p:nvSpPr>
        <p:spPr>
          <a:xfrm>
            <a:off x="496119" y="1513805"/>
            <a:ext cx="8608963" cy="111175"/>
          </a:xfrm>
          <a:prstGeom prst="rect">
            <a:avLst/>
          </a:prstGeom>
          <a:noFill/>
          <a:ln/>
        </p:spPr>
        <p:txBody>
          <a:bodyPr wrap="none" lIns="0" tIns="0" rIns="0" bIns="0" rtlCol="0" anchor="t"/>
          <a:lstStyle/>
          <a:p>
            <a:pPr marL="0" indent="0" algn="l">
              <a:lnSpc>
                <a:spcPct val="107000"/>
              </a:lnSpc>
              <a:buNone/>
            </a:pPr>
            <a:r>
              <a:rPr lang="en-US" sz="650" dirty="0">
                <a:solidFill>
                  <a:srgbClr val="272525"/>
                </a:solidFill>
                <a:latin typeface="Inter" pitchFamily="34" charset="0"/>
                <a:ea typeface="Inter" pitchFamily="34" charset="-122"/>
                <a:cs typeface="Inter" pitchFamily="34" charset="-120"/>
              </a:rPr>
              <a:t>Reimagine enterprise hiring by combining AI, intelligent automation, and human expertise into one unified recruitment platform.</a:t>
            </a:r>
            <a:endParaRPr lang="en-US" sz="650" dirty="0"/>
          </a:p>
        </p:txBody>
      </p:sp>
      <p:sp>
        <p:nvSpPr>
          <p:cNvPr id="15" name="Text 6">
            <a:extLst>
              <a:ext uri="{FF2B5EF4-FFF2-40B4-BE49-F238E27FC236}">
                <a16:creationId xmlns:a16="http://schemas.microsoft.com/office/drawing/2014/main" id="{2A4EA6D3-4CA2-4A66-838D-9649C67FA31C}"/>
              </a:ext>
            </a:extLst>
          </p:cNvPr>
          <p:cNvSpPr/>
          <p:nvPr/>
        </p:nvSpPr>
        <p:spPr>
          <a:xfrm>
            <a:off x="496119" y="1703933"/>
            <a:ext cx="8151763" cy="170036"/>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Petrona Bold" pitchFamily="34" charset="0"/>
                <a:ea typeface="Petrona Bold" pitchFamily="34" charset="-122"/>
                <a:cs typeface="Petrona Bold" pitchFamily="34" charset="-120"/>
              </a:rPr>
              <a:t>Key Takeaways</a:t>
            </a:r>
            <a:endParaRPr lang="en-US" sz="1050" dirty="0"/>
          </a:p>
        </p:txBody>
      </p:sp>
      <p:sp>
        <p:nvSpPr>
          <p:cNvPr id="17" name="Text 7">
            <a:extLst>
              <a:ext uri="{FF2B5EF4-FFF2-40B4-BE49-F238E27FC236}">
                <a16:creationId xmlns:a16="http://schemas.microsoft.com/office/drawing/2014/main" id="{718EE33A-038E-4B23-E1DD-36751F926299}"/>
              </a:ext>
            </a:extLst>
          </p:cNvPr>
          <p:cNvSpPr/>
          <p:nvPr/>
        </p:nvSpPr>
        <p:spPr>
          <a:xfrm>
            <a:off x="496119" y="1952923"/>
            <a:ext cx="8151763" cy="758949"/>
          </a:xfrm>
          <a:prstGeom prst="rect">
            <a:avLst/>
          </a:prstGeom>
          <a:noFill/>
          <a:ln/>
        </p:spPr>
        <p:txBody>
          <a:bodyPr wrap="square" lIns="0" tIns="0" rIns="0" bIns="0" rtlCol="0" anchor="t">
            <a:normAutofit/>
          </a:bodyPr>
          <a:lstStyle/>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Unified Talent Acquisition Platform</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60 Specialized AI Agents</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Enterprise-Ready &amp; Scalable</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AI-Assisted, Human-Controlled Hiring</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Complements Existing HRMS Ecosystem</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Strong Long-Term SaaS Revenue Potential</a:t>
            </a:r>
            <a:endParaRPr lang="en-US" sz="650" dirty="0"/>
          </a:p>
        </p:txBody>
      </p:sp>
      <p:sp>
        <p:nvSpPr>
          <p:cNvPr id="19" name="Text 8">
            <a:extLst>
              <a:ext uri="{FF2B5EF4-FFF2-40B4-BE49-F238E27FC236}">
                <a16:creationId xmlns:a16="http://schemas.microsoft.com/office/drawing/2014/main" id="{DCA095C4-CFC1-8AF8-762B-EE86B100166C}"/>
              </a:ext>
            </a:extLst>
          </p:cNvPr>
          <p:cNvSpPr/>
          <p:nvPr/>
        </p:nvSpPr>
        <p:spPr>
          <a:xfrm>
            <a:off x="496119" y="2790825"/>
            <a:ext cx="8151763" cy="170036"/>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Petrona Bold" pitchFamily="34" charset="0"/>
                <a:ea typeface="Petrona Bold" pitchFamily="34" charset="-122"/>
                <a:cs typeface="Petrona Bold" pitchFamily="34" charset="-120"/>
              </a:rPr>
              <a:t>Discussion Points</a:t>
            </a:r>
            <a:endParaRPr lang="en-US" sz="1050" dirty="0"/>
          </a:p>
        </p:txBody>
      </p:sp>
      <p:sp>
        <p:nvSpPr>
          <p:cNvPr id="21" name="Text 9">
            <a:extLst>
              <a:ext uri="{FF2B5EF4-FFF2-40B4-BE49-F238E27FC236}">
                <a16:creationId xmlns:a16="http://schemas.microsoft.com/office/drawing/2014/main" id="{C8BD0A23-A9A8-B422-031A-43C533014983}"/>
              </a:ext>
            </a:extLst>
          </p:cNvPr>
          <p:cNvSpPr/>
          <p:nvPr/>
        </p:nvSpPr>
        <p:spPr>
          <a:xfrm>
            <a:off x="496119" y="3039814"/>
            <a:ext cx="8151763" cy="499839"/>
          </a:xfrm>
          <a:prstGeom prst="rect">
            <a:avLst/>
          </a:prstGeom>
          <a:noFill/>
          <a:ln/>
        </p:spPr>
        <p:txBody>
          <a:bodyPr wrap="square" lIns="0" tIns="0" rIns="0" bIns="0" rtlCol="0" anchor="t">
            <a:normAutofit/>
          </a:bodyPr>
          <a:lstStyle/>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Is this aligned with our company's long-term product vision?</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Which modules should be prioritized for Phase 1?</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What strategic integrations should be considered?</a:t>
            </a:r>
            <a:endParaRPr lang="en-US" sz="650" dirty="0"/>
          </a:p>
          <a:p>
            <a:pPr marL="132080" indent="-132080" algn="l">
              <a:lnSpc>
                <a:spcPct val="107000"/>
              </a:lnSpc>
              <a:buSzPct val="100000"/>
              <a:buChar char="•"/>
            </a:pPr>
            <a:r>
              <a:rPr lang="en-US" sz="650" dirty="0">
                <a:solidFill>
                  <a:srgbClr val="272525"/>
                </a:solidFill>
                <a:latin typeface="Inter" pitchFamily="34" charset="0"/>
                <a:ea typeface="Inter" pitchFamily="34" charset="-122"/>
                <a:cs typeface="Inter" pitchFamily="34" charset="-120"/>
              </a:rPr>
              <a:t>How can we validate this idea with potential enterprise customers?</a:t>
            </a:r>
            <a:endParaRPr lang="en-US" sz="650" dirty="0"/>
          </a:p>
        </p:txBody>
      </p:sp>
      <p:sp>
        <p:nvSpPr>
          <p:cNvPr id="23" name="Text 10">
            <a:extLst>
              <a:ext uri="{FF2B5EF4-FFF2-40B4-BE49-F238E27FC236}">
                <a16:creationId xmlns:a16="http://schemas.microsoft.com/office/drawing/2014/main" id="{38493F43-DB8D-0A2E-8CFF-3FFA2480B187}"/>
              </a:ext>
            </a:extLst>
          </p:cNvPr>
          <p:cNvSpPr/>
          <p:nvPr/>
        </p:nvSpPr>
        <p:spPr>
          <a:xfrm>
            <a:off x="496119" y="3618607"/>
            <a:ext cx="8151763" cy="170036"/>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Petrona Bold" pitchFamily="34" charset="0"/>
                <a:ea typeface="Petrona Bold" pitchFamily="34" charset="-122"/>
                <a:cs typeface="Petrona Bold" pitchFamily="34" charset="-120"/>
              </a:rPr>
              <a:t>Closing Quote</a:t>
            </a:r>
            <a:endParaRPr lang="en-US" sz="1050" dirty="0"/>
          </a:p>
        </p:txBody>
      </p:sp>
      <p:sp>
        <p:nvSpPr>
          <p:cNvPr id="25" name="Shape 11">
            <a:extLst>
              <a:ext uri="{FF2B5EF4-FFF2-40B4-BE49-F238E27FC236}">
                <a16:creationId xmlns:a16="http://schemas.microsoft.com/office/drawing/2014/main" id="{4CBB9506-C15F-14BE-8002-EF6BD43DFF50}"/>
              </a:ext>
            </a:extLst>
          </p:cNvPr>
          <p:cNvSpPr/>
          <p:nvPr/>
        </p:nvSpPr>
        <p:spPr>
          <a:xfrm>
            <a:off x="496119" y="3867596"/>
            <a:ext cx="9525" cy="229493"/>
          </a:xfrm>
          <a:prstGeom prst="roundRect">
            <a:avLst>
              <a:gd name="adj" fmla="val 60000"/>
            </a:avLst>
          </a:prstGeom>
          <a:solidFill>
            <a:srgbClr val="007EBD"/>
          </a:solidFill>
          <a:ln/>
        </p:spPr>
      </p:sp>
      <p:sp>
        <p:nvSpPr>
          <p:cNvPr id="27" name="Text 12">
            <a:extLst>
              <a:ext uri="{FF2B5EF4-FFF2-40B4-BE49-F238E27FC236}">
                <a16:creationId xmlns:a16="http://schemas.microsoft.com/office/drawing/2014/main" id="{014784E8-B598-FF86-A4D8-F6049679372A}"/>
              </a:ext>
            </a:extLst>
          </p:cNvPr>
          <p:cNvSpPr/>
          <p:nvPr/>
        </p:nvSpPr>
        <p:spPr>
          <a:xfrm>
            <a:off x="625673" y="3926756"/>
            <a:ext cx="8479408" cy="111175"/>
          </a:xfrm>
          <a:prstGeom prst="rect">
            <a:avLst/>
          </a:prstGeom>
          <a:noFill/>
          <a:ln/>
        </p:spPr>
        <p:txBody>
          <a:bodyPr wrap="none" lIns="0" tIns="0" rIns="0" bIns="0" rtlCol="0" anchor="t"/>
          <a:lstStyle/>
          <a:p>
            <a:pPr marL="0" indent="0" algn="l">
              <a:lnSpc>
                <a:spcPct val="107000"/>
              </a:lnSpc>
              <a:buNone/>
            </a:pPr>
            <a:r>
              <a:rPr lang="en-US" sz="650" dirty="0">
                <a:solidFill>
                  <a:srgbClr val="272525"/>
                </a:solidFill>
                <a:latin typeface="Inter" pitchFamily="34" charset="0"/>
                <a:ea typeface="Inter" pitchFamily="34" charset="-122"/>
                <a:cs typeface="Inter" pitchFamily="34" charset="-120"/>
              </a:rPr>
              <a:t>"The future of hiring isn't more recruiters or more tools—it's intelligent AI working alongside recruiters on a single unified platform."</a:t>
            </a:r>
            <a:endParaRPr lang="en-US" sz="650" dirty="0"/>
          </a:p>
        </p:txBody>
      </p:sp>
      <p:sp>
        <p:nvSpPr>
          <p:cNvPr id="29" name="Shape 13">
            <a:extLst>
              <a:ext uri="{FF2B5EF4-FFF2-40B4-BE49-F238E27FC236}">
                <a16:creationId xmlns:a16="http://schemas.microsoft.com/office/drawing/2014/main" id="{7EDC1610-288C-C391-C1E4-CEA5282BAB90}"/>
              </a:ext>
            </a:extLst>
          </p:cNvPr>
          <p:cNvSpPr/>
          <p:nvPr/>
        </p:nvSpPr>
        <p:spPr>
          <a:xfrm>
            <a:off x="496119" y="4177829"/>
            <a:ext cx="8151763" cy="9525"/>
          </a:xfrm>
          <a:prstGeom prst="roundRect">
            <a:avLst>
              <a:gd name="adj" fmla="val 60000"/>
            </a:avLst>
          </a:prstGeom>
          <a:solidFill>
            <a:srgbClr val="272525">
              <a:alpha val="50000"/>
            </a:srgbClr>
          </a:solidFill>
          <a:ln/>
        </p:spPr>
      </p:sp>
      <p:sp>
        <p:nvSpPr>
          <p:cNvPr id="31" name="Text 14">
            <a:extLst>
              <a:ext uri="{FF2B5EF4-FFF2-40B4-BE49-F238E27FC236}">
                <a16:creationId xmlns:a16="http://schemas.microsoft.com/office/drawing/2014/main" id="{D03ED9D6-AD19-D3EA-AD46-6AEC75A4C468}"/>
              </a:ext>
            </a:extLst>
          </p:cNvPr>
          <p:cNvSpPr/>
          <p:nvPr/>
        </p:nvSpPr>
        <p:spPr>
          <a:xfrm>
            <a:off x="496119" y="4287887"/>
            <a:ext cx="8151763" cy="226740"/>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Petrona Bold" pitchFamily="34" charset="0"/>
                <a:ea typeface="Petrona Bold" pitchFamily="34" charset="-122"/>
                <a:cs typeface="Petrona Bold" pitchFamily="34" charset="-120"/>
              </a:rPr>
              <a:t>Thank You</a:t>
            </a:r>
            <a:endParaRPr lang="en-US" sz="1400" dirty="0"/>
          </a:p>
        </p:txBody>
      </p:sp>
      <p:sp>
        <p:nvSpPr>
          <p:cNvPr id="33" name="Text 15">
            <a:extLst>
              <a:ext uri="{FF2B5EF4-FFF2-40B4-BE49-F238E27FC236}">
                <a16:creationId xmlns:a16="http://schemas.microsoft.com/office/drawing/2014/main" id="{47E69A79-7548-E58F-BE9E-BDFFBC62DEED}"/>
              </a:ext>
            </a:extLst>
          </p:cNvPr>
          <p:cNvSpPr/>
          <p:nvPr/>
        </p:nvSpPr>
        <p:spPr>
          <a:xfrm>
            <a:off x="496119" y="4535612"/>
            <a:ext cx="8151763" cy="170036"/>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Petrona Bold" pitchFamily="34" charset="0"/>
                <a:ea typeface="Petrona Bold" pitchFamily="34" charset="-122"/>
                <a:cs typeface="Petrona Bold" pitchFamily="34" charset="-120"/>
              </a:rPr>
              <a:t>Questions &amp; Discussion</a:t>
            </a:r>
            <a:endParaRPr lang="en-US" sz="1050" dirty="0"/>
          </a:p>
        </p:txBody>
      </p:sp>
      <p:sp>
        <p:nvSpPr>
          <p:cNvPr id="35" name="Rectangle 34">
            <a:extLst>
              <a:ext uri="{FF2B5EF4-FFF2-40B4-BE49-F238E27FC236}">
                <a16:creationId xmlns:a16="http://schemas.microsoft.com/office/drawing/2014/main" id="{734C76DC-A9F5-331E-24F4-289D89B83955}"/>
              </a:ext>
            </a:extLst>
          </p:cNvPr>
          <p:cNvSpPr/>
          <p:nvPr/>
        </p:nvSpPr>
        <p:spPr>
          <a:xfrm>
            <a:off x="7883705" y="4599756"/>
            <a:ext cx="1221377" cy="510332"/>
          </a:xfrm>
          <a:prstGeom prst="rect">
            <a:avLst/>
          </a:prstGeom>
          <a:solidFill>
            <a:srgbClr val="FBFCFD"/>
          </a:solidFill>
          <a:ln>
            <a:solidFill>
              <a:srgbClr val="FBFC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053665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986</Words>
  <Application>Microsoft Office PowerPoint</Application>
  <PresentationFormat>On-screen Show (16:9)</PresentationFormat>
  <Paragraphs>145</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Inter</vt:lpstr>
      <vt:lpstr>Petrona Bold</vt:lpstr>
      <vt:lpstr>Arial</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Harsh Shirsath</cp:lastModifiedBy>
  <cp:revision>4</cp:revision>
  <dcterms:created xsi:type="dcterms:W3CDTF">2026-07-08T20:54:47Z</dcterms:created>
  <dcterms:modified xsi:type="dcterms:W3CDTF">2026-07-08T21:02:05Z</dcterms:modified>
</cp:coreProperties>
</file>